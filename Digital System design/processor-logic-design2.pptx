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83" r:id="rId5"/>
    <p:sldId id="261" r:id="rId6"/>
    <p:sldId id="262" r:id="rId7"/>
    <p:sldId id="263" r:id="rId8"/>
    <p:sldId id="264" r:id="rId9"/>
    <p:sldId id="266" r:id="rId10"/>
    <p:sldId id="284" r:id="rId11"/>
    <p:sldId id="267" r:id="rId12"/>
    <p:sldId id="268" r:id="rId13"/>
    <p:sldId id="269" r:id="rId14"/>
    <p:sldId id="270" r:id="rId15"/>
    <p:sldId id="271" r:id="rId16"/>
    <p:sldId id="285" r:id="rId17"/>
    <p:sldId id="272" r:id="rId18"/>
    <p:sldId id="286" r:id="rId19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36" y="32"/>
      </p:cViewPr>
      <p:guideLst>
        <p:guide orient="horz" pos="2160"/>
        <p:guide pos="37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130F5-2B9B-421E-80CD-88287242524B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24DF3-4E66-498C-9ED5-669ED64B1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7033240" y="459011"/>
            <a:ext cx="485396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7033263" y="520701"/>
            <a:ext cx="4853941" cy="15869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7429500" y="685801"/>
            <a:ext cx="4457703" cy="45156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7441883" y="766112"/>
            <a:ext cx="2555748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7503795" y="810481"/>
            <a:ext cx="2555748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033260" y="611409"/>
            <a:ext cx="3982212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589459" y="633792"/>
            <a:ext cx="208026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07160"/>
            <a:ext cx="11887200" cy="20179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3" y="324045"/>
            <a:ext cx="11887201" cy="11626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8338266" y="292100"/>
            <a:ext cx="3548935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2" y="2"/>
            <a:ext cx="11887199" cy="304798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74059" y="1295402"/>
            <a:ext cx="10995660" cy="1470025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rgbClr val="D25500"/>
                </a:solidFill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21331" y="3124200"/>
            <a:ext cx="6438900" cy="1752600"/>
          </a:xfrm>
        </p:spPr>
        <p:txBody>
          <a:bodyPr anchor="ctr">
            <a:normAutofit/>
          </a:bodyPr>
          <a:lstStyle>
            <a:lvl1pPr marL="64008" indent="0" algn="ctr">
              <a:buNone/>
              <a:defRPr sz="2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" y="6388100"/>
            <a:ext cx="1248156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896600" y="1136"/>
            <a:ext cx="891540" cy="303664"/>
          </a:xfrm>
        </p:spPr>
        <p:txBody>
          <a:bodyPr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654" y="6094018"/>
            <a:ext cx="939081" cy="722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85800"/>
            <a:ext cx="10698480" cy="10668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98480" cy="432511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244443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1981202"/>
            <a:ext cx="1010412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3367088"/>
            <a:ext cx="1010412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85800"/>
            <a:ext cx="10698480" cy="10668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1765301"/>
            <a:ext cx="525018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1765301"/>
            <a:ext cx="525018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-16510" y="6413500"/>
            <a:ext cx="1244443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143000"/>
            <a:ext cx="108966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2244971"/>
            <a:ext cx="5254142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37596" y="2244971"/>
            <a:ext cx="525430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95300" y="2708519"/>
            <a:ext cx="5254142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3798" y="2708519"/>
            <a:ext cx="525430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143000"/>
            <a:ext cx="1069848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58784" y="612648"/>
            <a:ext cx="1244443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35140" y="612648"/>
            <a:ext cx="172364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27157" y="2272"/>
            <a:ext cx="9906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545" y="1101971"/>
            <a:ext cx="4398264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959545" y="2010727"/>
            <a:ext cx="4398264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8120" y="776287"/>
            <a:ext cx="6633058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567" y="1109161"/>
            <a:ext cx="76284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4772" y="1143000"/>
            <a:ext cx="59436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4976" y="3274310"/>
            <a:ext cx="336804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6340" y="1143000"/>
            <a:ext cx="24765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1143000"/>
            <a:ext cx="812292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654" y="6094018"/>
            <a:ext cx="939081" cy="72237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" y="366820"/>
            <a:ext cx="118872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2"/>
            <a:ext cx="118872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3" y="308278"/>
            <a:ext cx="118872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7033240" y="360248"/>
            <a:ext cx="485396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7033263" y="440114"/>
            <a:ext cx="485394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029541" y="497504"/>
            <a:ext cx="3982212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585740" y="588943"/>
            <a:ext cx="208026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11810456" y="-2001"/>
            <a:ext cx="74914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1757825" y="-2001"/>
            <a:ext cx="3566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1733057" y="-2001"/>
            <a:ext cx="11887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11668050" y="-2001"/>
            <a:ext cx="3566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11590380" y="380"/>
            <a:ext cx="71323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11535518" y="380"/>
            <a:ext cx="11887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594360" y="1143000"/>
            <a:ext cx="1069848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94360" y="2249424"/>
            <a:ext cx="1069848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62497" y="612648"/>
            <a:ext cx="1244443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835140" y="612648"/>
            <a:ext cx="1723644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627157" y="2272"/>
            <a:ext cx="9906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Systems Design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Processor Logic Design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26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computer CPU must manipulate not only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but also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instruction codes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addresses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coming from memory.</a:t>
            </a:r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register that holds and manipulates the operation code of instructions is considered to be part of the control unit.</a:t>
            </a:r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Here, we will learn about the general-purpose register, commonly called an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accumulator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00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Processor Organization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a well organized processor unit, the data paths are formed by means of buses and other common lines.</a:t>
            </a:r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control gates that formulate the given path are essentially multiplexers and decoders whose selection lines specify the required path.</a:t>
            </a:r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All organizations employ a common ALU and shifter.</a:t>
            </a:r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differences in organizations are mostly manifested in the organization of the registers and their common path to the ALU.</a:t>
            </a:r>
            <a:endParaRPr lang="en-US" sz="20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31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Bus Organization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1000" contrast="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257" y="27710"/>
            <a:ext cx="5117306" cy="6823076"/>
          </a:xfr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94360" y="1765300"/>
            <a:ext cx="6263640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When a large number of registers are included in a processor unit, it is most efficient to connect them through common buses or arrange them as a small memory having very fast access time.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the figure, there are 4 processor registers. Each register is connected to 2 MUXs to form input buses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result from the shifter goes through the output bus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into the inputs of all registers.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4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Scratchpad Memory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5913516" cy="43251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registers in a processor unit can be enclosed within a small memory unit. This memory is called scratchpad memory.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example, a processor unit employs 8 registers of 16 bits each. The 8 memory words can be designated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R0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through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R7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single register can be selected by means of an address to the memory unit. 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0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876" y="152400"/>
            <a:ext cx="5299628" cy="6646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990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2-Port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5731475" cy="43251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 processors employ a 2-port memory in order to overcome the delay caused when reading 2 source registers.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When enabled by the memory enable (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 input, new data can be written into the word specified by the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address.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2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835" y="2286000"/>
            <a:ext cx="5528129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2022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Accumulator Register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7025640" cy="43251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 processor units separate one register from all others and call it an accumulator register (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register).</a:t>
            </a:r>
          </a:p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It is a multipurpose register capable of performing not only the add </a:t>
            </a:r>
            <a:r>
              <a:rPr lang="en-US" sz="24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microoperation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but many other </a:t>
            </a:r>
            <a:r>
              <a:rPr lang="en-US" sz="24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microoperations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as well.</a:t>
            </a:r>
          </a:p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form the sum of 2 numbers stored in processor unit, we need;</a:t>
            </a:r>
          </a:p>
          <a:p>
            <a:pPr marL="109728" indent="0" algn="ctr">
              <a:buNone/>
            </a:pP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	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←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0	   </a:t>
            </a:r>
          </a:p>
          <a:p>
            <a:pPr marL="109728" indent="0" algn="ctr">
              <a:buNone/>
            </a:pP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	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←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R1</a:t>
            </a:r>
          </a:p>
          <a:p>
            <a:pPr marL="109728" indent="0" algn="ctr">
              <a:buNone/>
            </a:pP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	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←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R2</a:t>
            </a:r>
            <a:endParaRPr lang="en-US" sz="2000" i="1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57876" y="1905000"/>
            <a:ext cx="2119724" cy="813391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233262" y="1972270"/>
            <a:ext cx="19270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Processor registers or Memory Unit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51299" y="3301409"/>
            <a:ext cx="2119724" cy="813391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867196" y="3530009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ALU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51299" y="4673009"/>
            <a:ext cx="2119724" cy="813391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522692" y="4756538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Accumulator</a:t>
            </a:r>
          </a:p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Register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>
            <a:stCxn id="7" idx="2"/>
            <a:endCxn id="9" idx="0"/>
          </p:cNvCxnSpPr>
          <p:nvPr/>
        </p:nvCxnSpPr>
        <p:spPr>
          <a:xfrm>
            <a:off x="10211161" y="4114800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0221551" y="5486400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10169064" y="1346791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0754951" y="2718391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9611951" y="2997495"/>
            <a:ext cx="0" cy="282005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5" idx="1"/>
          </p:cNvCxnSpPr>
          <p:nvPr/>
        </p:nvCxnSpPr>
        <p:spPr>
          <a:xfrm>
            <a:off x="8392751" y="2311695"/>
            <a:ext cx="765125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8621351" y="5765504"/>
            <a:ext cx="1600200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8621351" y="2997495"/>
            <a:ext cx="0" cy="2768009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621351" y="2997495"/>
            <a:ext cx="990600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11951" y="6055563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Output data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67516" y="1988530"/>
            <a:ext cx="1115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source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2833" y="98148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 data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798075" y="281282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i="1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58314" y="281282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3326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Arithmetic Logic 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720840" cy="43251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ALU can perform a set of basic arithmetic operations and a set of logic operations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It has a number of selection lines to select a particular operation in the unit.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The selection lines are decoded within the ALU so that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k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selection variables can specify up to 2</a:t>
            </a:r>
            <a:r>
              <a:rPr lang="en-US" sz="2400" i="1" baseline="30000" dirty="0" smtClean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k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distinct operations. 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marL="109728" indent="0">
              <a:buNone/>
            </a:pPr>
            <a:endParaRPr lang="en-US" sz="2400" i="1" dirty="0">
              <a:solidFill>
                <a:schemeClr val="bg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1835" y="3301409"/>
            <a:ext cx="2965223" cy="1346791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702635" y="2743200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0550235" y="2743200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0397835" y="2746101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0245435" y="2746101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178635" y="2743200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9026235" y="2743200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873835" y="2746101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8721435" y="2746101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9961415" y="4648200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9809015" y="4648200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56615" y="4651101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504215" y="4651101"/>
            <a:ext cx="0" cy="55820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4" idx="1"/>
          </p:cNvCxnSpPr>
          <p:nvPr/>
        </p:nvCxnSpPr>
        <p:spPr>
          <a:xfrm flipH="1" flipV="1">
            <a:off x="7654635" y="3974804"/>
            <a:ext cx="457200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11083635" y="3505200"/>
            <a:ext cx="457200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11083635" y="3733799"/>
            <a:ext cx="457200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11083635" y="3962399"/>
            <a:ext cx="457200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11083635" y="4190999"/>
            <a:ext cx="457200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75161" y="234906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21635" y="237386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i="1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97435" y="382931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endParaRPr lang="en-US" baseline="-250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36011" y="525851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18361" y="33644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508112" y="354457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-25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8112" y="378229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-25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80402" y="406630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endParaRPr lang="en-US" baseline="-250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66883" y="3678380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Arithmetic Logic Unit</a:t>
            </a:r>
          </a:p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(ALU)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86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 of Arithmetic Circuit</a:t>
            </a:r>
            <a:endParaRPr lang="en-US" dirty="0"/>
          </a:p>
        </p:txBody>
      </p:sp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557189" y="1726580"/>
            <a:ext cx="6416040" cy="432511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basic component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of the arithmetic section of an ALU is a parallel adder.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parallel adder is constructed with a number of full-adder circuits connected in cascade. 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circuit that controls input B to provide the functions is called a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complement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one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zero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element.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>
              <a:spcBef>
                <a:spcPts val="1200"/>
              </a:spcBef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3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28600"/>
            <a:ext cx="4841632" cy="6600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552138"/>
              </p:ext>
            </p:extLst>
          </p:nvPr>
        </p:nvGraphicFramePr>
        <p:xfrm>
          <a:off x="2514600" y="4800600"/>
          <a:ext cx="2209800" cy="187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u="non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en-US" i="1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lang="en-US" i="1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i="1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lang="en-US" i="1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i="1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’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87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 of Arithmetic Circuit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2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290" y="1305573"/>
            <a:ext cx="5025290" cy="5517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756937"/>
              </p:ext>
            </p:extLst>
          </p:nvPr>
        </p:nvGraphicFramePr>
        <p:xfrm>
          <a:off x="533400" y="2133600"/>
          <a:ext cx="6111875" cy="4102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0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1021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Function select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 equals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Output equals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lang="en-US" baseline="-250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endParaRPr lang="en-US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+ </a:t>
                      </a:r>
                      <a:r>
                        <a:rPr lang="en-US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+ B + </a:t>
                      </a:r>
                      <a:r>
                        <a:rPr lang="en-US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i="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’</a:t>
                      </a:r>
                      <a:endParaRPr lang="en-US" i="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+  B</a:t>
                      </a:r>
                      <a:r>
                        <a:rPr lang="en-US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’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’</a:t>
                      </a:r>
                      <a:endParaRPr lang="en-US" i="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+ B</a:t>
                      </a:r>
                      <a:r>
                        <a:rPr lang="en-US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’ </a:t>
                      </a:r>
                      <a:r>
                        <a:rPr lang="en-US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+ 1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All 1’s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– </a:t>
                      </a:r>
                      <a:r>
                        <a:rPr lang="en-US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endParaRPr lang="en-US" i="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All 1’s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157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 of Logic Circuit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40984905"/>
                  </p:ext>
                </p:extLst>
              </p:nvPr>
            </p:nvGraphicFramePr>
            <p:xfrm>
              <a:off x="609600" y="2286000"/>
              <a:ext cx="5959476" cy="1854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540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90500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</a:t>
                          </a:r>
                          <a:r>
                            <a:rPr lang="en-US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</a:t>
                          </a:r>
                          <a:r>
                            <a:rPr lang="en-US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Output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Operation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=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+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OR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=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⊕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XOR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=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AB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AND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libri" pitchFamily="34" charset="0"/>
                              <a:cs typeface="Calibri" pitchFamily="34" charset="0"/>
                            </a:rPr>
                            <a:t>’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=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libri" pitchFamily="34" charset="0"/>
                              <a:cs typeface="Calibri" pitchFamily="34" charset="0"/>
                            </a:rPr>
                            <a:t>’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libri" pitchFamily="34" charset="0"/>
                            <a:cs typeface="Calibri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NOT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40984905"/>
                  </p:ext>
                </p:extLst>
              </p:nvPr>
            </p:nvGraphicFramePr>
            <p:xfrm>
              <a:off x="609600" y="2286000"/>
              <a:ext cx="5959476" cy="1854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54075"/>
                    <a:gridCol w="1066800"/>
                    <a:gridCol w="2133600"/>
                    <a:gridCol w="1905001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</a:t>
                          </a:r>
                          <a:r>
                            <a:rPr lang="en-US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</a:t>
                          </a:r>
                          <a:r>
                            <a:rPr lang="en-US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Output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Operation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=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+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OR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1">
                          <a:blip r:embed="rId2"/>
                          <a:stretch>
                            <a:fillRect l="-90000" t="-211667" r="-89429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XOR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=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AB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AND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libri" pitchFamily="34" charset="0"/>
                              <a:cs typeface="Calibri" pitchFamily="34" charset="0"/>
                            </a:rPr>
                            <a:t>’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=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libri" pitchFamily="34" charset="0"/>
                              <a:cs typeface="Calibri" pitchFamily="34" charset="0"/>
                            </a:rPr>
                            <a:t>’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libri" pitchFamily="34" charset="0"/>
                            <a:cs typeface="Calibri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NOT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7749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 of Arithmetic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Logic Unit</a:t>
            </a:r>
            <a:endParaRPr lang="en-US" dirty="0"/>
          </a:p>
        </p:txBody>
      </p:sp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558316" cy="43251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combine the two unit we need another selection line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3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676" y="48463"/>
            <a:ext cx="4703749" cy="679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32000" contrast="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31895"/>
            <a:ext cx="5020959" cy="379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076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Status Register</a:t>
            </a:r>
            <a:endParaRPr lang="en-US" dirty="0"/>
          </a:p>
        </p:txBody>
      </p:sp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5654040" cy="43251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It is sometimes convenient to supplement the ALU with a status register where these status-bit conditions are stored for further analysis.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Status-bit conditions are sometimes called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condition-code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bits or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flag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bits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2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467" y="1752600"/>
            <a:ext cx="5737518" cy="5077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15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 of Shifter</a:t>
            </a:r>
            <a:endParaRPr lang="en-US" dirty="0"/>
          </a:p>
        </p:txBody>
      </p:sp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4171605" cy="43251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shifter may transfer the information directly without a shift, or it may shift the information to the right or to the left.</a:t>
            </a:r>
          </a:p>
          <a:p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may be employed to specify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i="1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i="1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during shift.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2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965" y="1582492"/>
            <a:ext cx="7086600" cy="5244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Content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696847"/>
              </p:ext>
            </p:extLst>
          </p:nvPr>
        </p:nvGraphicFramePr>
        <p:xfrm>
          <a:off x="609600" y="4775200"/>
          <a:ext cx="3825876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0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050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  <a:r>
                        <a:rPr lang="en-US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  <a:r>
                        <a:rPr lang="en-US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baseline="-250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Operation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 shift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Shift right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Shift</a:t>
                      </a:r>
                      <a:r>
                        <a:rPr lang="en-US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left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Assign</a:t>
                      </a:r>
                      <a:r>
                        <a:rPr lang="en-US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zero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48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Processor Unit</a:t>
            </a:r>
            <a:endParaRPr lang="en-US" dirty="0"/>
          </a:p>
        </p:txBody>
      </p:sp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118165" cy="43251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selection variables in a processor unit control the </a:t>
            </a:r>
            <a:r>
              <a:rPr lang="en-US" sz="24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microoperations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executed within the processor during any given clock pulse.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16 selection variables in the unit and their functions are specified by a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control word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control word is partitioned into 6 fields with each field designated by a letter name.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32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525" y="1346887"/>
            <a:ext cx="5151057" cy="551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63699"/>
              </p:ext>
            </p:extLst>
          </p:nvPr>
        </p:nvGraphicFramePr>
        <p:xfrm>
          <a:off x="7772400" y="787400"/>
          <a:ext cx="28956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  <a:endParaRPr lang="en-US" i="1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  <a:endParaRPr lang="en-US" i="1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  <a:endParaRPr lang="en-US" i="1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  <a:endParaRPr lang="en-US" i="1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  <a:r>
                        <a:rPr lang="en-US" i="0" baseline="-250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in</a:t>
                      </a:r>
                      <a:endParaRPr lang="en-US" i="0" baseline="-250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  <a:endParaRPr lang="en-US" i="1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97816" y="789710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Control word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96200" y="481933"/>
            <a:ext cx="310213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1..3     4..6     7..9   10..12    13    14..16 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50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 of Accumulator</a:t>
            </a:r>
            <a:endParaRPr lang="en-US" dirty="0"/>
          </a:p>
        </p:txBody>
      </p:sp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7178040" cy="432511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accumulator is a sequential circuit with </a:t>
            </a:r>
            <a:r>
              <a:rPr lang="en-US" sz="22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register and the associated combinational circuit. It requires control variables </a:t>
            </a:r>
            <a:r>
              <a:rPr lang="en-US" sz="22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through </a:t>
            </a:r>
            <a:r>
              <a:rPr lang="en-US" sz="22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generated by control logic circuits.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05800" y="2819400"/>
            <a:ext cx="2057400" cy="5334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lang="en-US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i="1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6582" y="4152900"/>
            <a:ext cx="2057400" cy="8763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Combinational Circuit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9355282" y="5029200"/>
            <a:ext cx="1" cy="8382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8763000" y="5029200"/>
            <a:ext cx="1" cy="520456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9355281" y="3347406"/>
            <a:ext cx="1" cy="805494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7772400" y="5549656"/>
            <a:ext cx="990601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772400" y="2362200"/>
            <a:ext cx="0" cy="318745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772400" y="2362200"/>
            <a:ext cx="1562100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5" idx="0"/>
          </p:cNvCxnSpPr>
          <p:nvPr/>
        </p:nvCxnSpPr>
        <p:spPr>
          <a:xfrm>
            <a:off x="9334500" y="2362200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6" idx="3"/>
          </p:cNvCxnSpPr>
          <p:nvPr/>
        </p:nvCxnSpPr>
        <p:spPr>
          <a:xfrm flipH="1">
            <a:off x="10383982" y="4591050"/>
            <a:ext cx="665018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64090" y="4626326"/>
            <a:ext cx="1295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Control variables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21434" y="5894017"/>
            <a:ext cx="1295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inputs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50180"/>
                  </p:ext>
                </p:extLst>
              </p:nvPr>
            </p:nvGraphicFramePr>
            <p:xfrm>
              <a:off x="838200" y="3086100"/>
              <a:ext cx="6705600" cy="3657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Control variable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Microoperation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Name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A+B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Add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2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i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Clear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3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libri" pitchFamily="34" charset="0"/>
                              <a:cs typeface="Calibri" pitchFamily="34" charset="0"/>
                            </a:rPr>
                            <a:t>’</a:t>
                          </a:r>
                          <a:endParaRPr lang="en-US" i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libri" pitchFamily="34" charset="0"/>
                            <a:cs typeface="Calibri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Complement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4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˄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AND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5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˅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OR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6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⊕</m:t>
                              </m:r>
                            </m:oMath>
                          </a14:m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Exclusive-OR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7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 </a:t>
                          </a:r>
                          <a:r>
                            <a:rPr lang="en-US" i="0" dirty="0" err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shr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Shift right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8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 </a:t>
                          </a:r>
                          <a:r>
                            <a:rPr lang="en-US" i="0" dirty="0" err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shl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Shift</a:t>
                          </a:r>
                          <a:r>
                            <a:rPr lang="en-US" baseline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left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298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baseline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9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A+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i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Increment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50180"/>
                  </p:ext>
                </p:extLst>
              </p:nvPr>
            </p:nvGraphicFramePr>
            <p:xfrm>
              <a:off x="838200" y="3086100"/>
              <a:ext cx="6705600" cy="3657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14600"/>
                    <a:gridCol w="2209800"/>
                    <a:gridCol w="1981200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Control variable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Microoperation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Name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A+B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Add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2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en-US" i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Clear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3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libri" pitchFamily="34" charset="0"/>
                              <a:cs typeface="Calibri" pitchFamily="34" charset="0"/>
                            </a:rPr>
                            <a:t>’</a:t>
                          </a:r>
                          <a:endParaRPr lang="en-US" i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libri" pitchFamily="34" charset="0"/>
                            <a:cs typeface="Calibri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Complement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4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˄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AND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5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˅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OR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6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14365" t="-608333" r="-8977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Exclusive-OR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7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 </a:t>
                          </a:r>
                          <a:r>
                            <a:rPr lang="en-US" i="0" dirty="0" err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shr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Shift right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8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 </a:t>
                          </a:r>
                          <a:r>
                            <a:rPr lang="en-US" i="0" dirty="0" err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shl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endPara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Shift</a:t>
                          </a:r>
                          <a:r>
                            <a:rPr lang="en-US" baseline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left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baseline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r>
                            <a:rPr lang="en-US" i="0" baseline="-2500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9</a:t>
                          </a:r>
                          <a:endParaRPr lang="en-US" i="0" baseline="-25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</a:t>
                          </a:r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/>
                              <a:cs typeface="Times New Roman"/>
                            </a:rPr>
                            <a:t>←</a:t>
                          </a:r>
                          <a:r>
                            <a:rPr lang="en-US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A+</a:t>
                          </a:r>
                          <a:r>
                            <a:rPr lang="en-US" i="0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en-US" i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Increment</a:t>
                          </a:r>
                          <a:endPara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961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Stage of Accumulator</a:t>
            </a:r>
            <a:endParaRPr lang="en-US" dirty="0"/>
          </a:p>
        </p:txBody>
      </p:sp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6136892" cy="432511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register we are using here is of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JK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-type flip-flops.</a:t>
            </a:r>
          </a:p>
          <a:p>
            <a:pPr algn="just"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must ensure that only one control variable is enabled at any </a:t>
            </a:r>
            <a:r>
              <a:rPr lang="en-US" sz="240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given time. 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2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252" y="67493"/>
            <a:ext cx="5130297" cy="6756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48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Complete Accumulator</a:t>
            </a:r>
            <a:endParaRPr lang="en-US" dirty="0"/>
          </a:p>
        </p:txBody>
      </p:sp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4587240" cy="432511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Finally an accumulator with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bits requires </a:t>
            </a:r>
            <a:r>
              <a:rPr lang="en-US" sz="2400" i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stages connected in cascade, with each stage having the circuit in the figure.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32000"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725251"/>
            <a:ext cx="6705600" cy="413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955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bdullah">
  <a:themeElements>
    <a:clrScheme name="Custom 1">
      <a:dk1>
        <a:srgbClr val="5C2E14"/>
      </a:dk1>
      <a:lt1>
        <a:srgbClr val="FFFFFF"/>
      </a:lt1>
      <a:dk2>
        <a:srgbClr val="214B2B"/>
      </a:dk2>
      <a:lt2>
        <a:srgbClr val="DEDEDE"/>
      </a:lt2>
      <a:accent1>
        <a:srgbClr val="53548A"/>
      </a:accent1>
      <a:accent2>
        <a:srgbClr val="57B56D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Abdullah</Template>
  <TotalTime>850</TotalTime>
  <Words>1016</Words>
  <Application>Microsoft Office PowerPoint</Application>
  <PresentationFormat>Custom</PresentationFormat>
  <Paragraphs>216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Cambria Math</vt:lpstr>
      <vt:lpstr>Georgia</vt:lpstr>
      <vt:lpstr>Times New Roman</vt:lpstr>
      <vt:lpstr>Trebuchet MS</vt:lpstr>
      <vt:lpstr>Wingdings 2</vt:lpstr>
      <vt:lpstr>Abdullah</vt:lpstr>
      <vt:lpstr>Digital Systems Design</vt:lpstr>
      <vt:lpstr>Introduction</vt:lpstr>
      <vt:lpstr>Processor Organization</vt:lpstr>
      <vt:lpstr>Bus Organization</vt:lpstr>
      <vt:lpstr>Scratchpad Memory </vt:lpstr>
      <vt:lpstr>2-Port Memory</vt:lpstr>
      <vt:lpstr>Accumulator Register</vt:lpstr>
      <vt:lpstr>Arithmetic Logic Unit</vt:lpstr>
      <vt:lpstr>Design of Arithmetic Circuit</vt:lpstr>
      <vt:lpstr>Design of Arithmetic Circuit</vt:lpstr>
      <vt:lpstr>Design of Logic Circuit</vt:lpstr>
      <vt:lpstr>Design of Arithmetic  Logic Unit</vt:lpstr>
      <vt:lpstr>Status Register</vt:lpstr>
      <vt:lpstr>Design of Shifter</vt:lpstr>
      <vt:lpstr>Processor Unit</vt:lpstr>
      <vt:lpstr>Design of Accumulator</vt:lpstr>
      <vt:lpstr>One Stage of Accumulator</vt:lpstr>
      <vt:lpstr>Complete Accumulator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Systems Design</dc:title>
  <dc:creator>Abdullah</dc:creator>
  <cp:lastModifiedBy>hp</cp:lastModifiedBy>
  <cp:revision>94</cp:revision>
  <dcterms:created xsi:type="dcterms:W3CDTF">2006-08-16T00:00:00Z</dcterms:created>
  <dcterms:modified xsi:type="dcterms:W3CDTF">2025-09-01T19:01:09Z</dcterms:modified>
</cp:coreProperties>
</file>