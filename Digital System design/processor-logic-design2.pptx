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6" r:id="rId2"/>
    <p:sldId id="257" r:id="rId3"/>
    <p:sldId id="258" r:id="rId4"/>
    <p:sldId id="283" r:id="rId5"/>
    <p:sldId id="261" r:id="rId6"/>
    <p:sldId id="262" r:id="rId7"/>
    <p:sldId id="263" r:id="rId8"/>
    <p:sldId id="264" r:id="rId9"/>
    <p:sldId id="266" r:id="rId10"/>
    <p:sldId id="284" r:id="rId11"/>
    <p:sldId id="267" r:id="rId12"/>
    <p:sldId id="268" r:id="rId13"/>
    <p:sldId id="269" r:id="rId14"/>
    <p:sldId id="270" r:id="rId15"/>
    <p:sldId id="271" r:id="rId16"/>
    <p:sldId id="285" r:id="rId17"/>
    <p:sldId id="272" r:id="rId18"/>
    <p:sldId id="286" r:id="rId19"/>
  </p:sldIdLst>
  <p:sldSz cx="118872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74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822" y="-90"/>
      </p:cViewPr>
      <p:guideLst>
        <p:guide orient="horz" pos="2160"/>
        <p:guide pos="374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0130F5-2B9B-421E-80CD-88287242524B}" type="datetimeFigureOut">
              <a:rPr lang="en-US" smtClean="0"/>
              <a:t>5/29/2023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685800"/>
            <a:ext cx="59436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B24DF3-4E66-498C-9ED5-669ED64B13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228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 flipV="1">
            <a:off x="7033240" y="459011"/>
            <a:ext cx="4853965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4" name="Rectangle 23"/>
          <p:cNvSpPr/>
          <p:nvPr/>
        </p:nvSpPr>
        <p:spPr>
          <a:xfrm flipV="1">
            <a:off x="7033263" y="520701"/>
            <a:ext cx="4853941" cy="158697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5" name="Rectangle 24"/>
          <p:cNvSpPr/>
          <p:nvPr/>
        </p:nvSpPr>
        <p:spPr>
          <a:xfrm flipV="1">
            <a:off x="7429500" y="685801"/>
            <a:ext cx="4457703" cy="45156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6" name="Rectangle 25"/>
          <p:cNvSpPr/>
          <p:nvPr/>
        </p:nvSpPr>
        <p:spPr>
          <a:xfrm flipV="1">
            <a:off x="7441883" y="766112"/>
            <a:ext cx="2555748" cy="1828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Rectangle 26"/>
          <p:cNvSpPr/>
          <p:nvPr/>
        </p:nvSpPr>
        <p:spPr>
          <a:xfrm flipV="1">
            <a:off x="7503795" y="810481"/>
            <a:ext cx="2555748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0" name="Rounded Rectangle 29"/>
          <p:cNvSpPr/>
          <p:nvPr/>
        </p:nvSpPr>
        <p:spPr bwMode="white">
          <a:xfrm>
            <a:off x="7033260" y="611409"/>
            <a:ext cx="3982212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1" name="Rounded Rectangle 30"/>
          <p:cNvSpPr/>
          <p:nvPr/>
        </p:nvSpPr>
        <p:spPr bwMode="white">
          <a:xfrm>
            <a:off x="9589459" y="633792"/>
            <a:ext cx="208026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Rectangle 6"/>
          <p:cNvSpPr/>
          <p:nvPr/>
        </p:nvSpPr>
        <p:spPr>
          <a:xfrm>
            <a:off x="1" y="307160"/>
            <a:ext cx="11887200" cy="201795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3" y="324045"/>
            <a:ext cx="11887201" cy="116262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Rectangle 10"/>
          <p:cNvSpPr/>
          <p:nvPr/>
        </p:nvSpPr>
        <p:spPr>
          <a:xfrm flipV="1">
            <a:off x="8338266" y="292100"/>
            <a:ext cx="3548935" cy="248432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Rectangle 18"/>
          <p:cNvSpPr/>
          <p:nvPr/>
        </p:nvSpPr>
        <p:spPr>
          <a:xfrm>
            <a:off x="2" y="2"/>
            <a:ext cx="11887199" cy="304798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674059" y="1295402"/>
            <a:ext cx="10995660" cy="1470025"/>
          </a:xfrm>
        </p:spPr>
        <p:txBody>
          <a:bodyPr anchor="ctr">
            <a:normAutofit/>
          </a:bodyPr>
          <a:lstStyle>
            <a:lvl1pPr algn="ctr">
              <a:defRPr sz="4400" b="1">
                <a:solidFill>
                  <a:srgbClr val="D25500"/>
                </a:solidFill>
                <a:latin typeface="+mn-lt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 dirty="0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3021331" y="3124200"/>
            <a:ext cx="6438900" cy="1752600"/>
          </a:xfrm>
        </p:spPr>
        <p:txBody>
          <a:bodyPr anchor="ctr">
            <a:normAutofit/>
          </a:bodyPr>
          <a:lstStyle>
            <a:lvl1pPr marL="64008" indent="0" algn="ctr">
              <a:buNone/>
              <a:defRPr sz="2800" b="1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 dirty="0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1" y="6388100"/>
            <a:ext cx="1248156" cy="457200"/>
          </a:xfrm>
        </p:spPr>
        <p:txBody>
          <a:bodyPr anchor="ctr"/>
          <a:lstStyle>
            <a:lvl1pPr algn="ctr">
              <a:defRPr sz="1050"/>
            </a:lvl1pPr>
          </a:lstStyle>
          <a:p>
            <a:fld id="{1D8BD707-D9CF-40AE-B4C6-C98DA3205C09}" type="datetimeFigureOut">
              <a:rPr lang="en-US" smtClean="0"/>
              <a:pPr/>
              <a:t>5/29/2023</a:t>
            </a:fld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0896600" y="1136"/>
            <a:ext cx="891540" cy="303664"/>
          </a:xfrm>
        </p:spPr>
        <p:txBody>
          <a:bodyPr/>
          <a:lstStyle>
            <a:lvl1pPr algn="r">
              <a:defRPr sz="2000"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4654" y="6094018"/>
            <a:ext cx="939081" cy="72237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685800"/>
            <a:ext cx="10698480" cy="10668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4360" y="1765300"/>
            <a:ext cx="10698480" cy="4325112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400800"/>
            <a:ext cx="1244443" cy="457200"/>
          </a:xfrm>
        </p:spPr>
        <p:txBody>
          <a:bodyPr anchor="ctr"/>
          <a:lstStyle>
            <a:lvl1pPr algn="ctr">
              <a:defRPr sz="1050"/>
            </a:lvl1pPr>
          </a:lstStyle>
          <a:p>
            <a:fld id="{1D8BD707-D9CF-40AE-B4C6-C98DA3205C09}" type="datetimeFigureOut">
              <a:rPr lang="en-US" smtClean="0"/>
              <a:pPr/>
              <a:t>5/29/2023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007" y="1981202"/>
            <a:ext cx="10104120" cy="1362075"/>
          </a:xfrm>
        </p:spPr>
        <p:txBody>
          <a:bodyPr anchor="b">
            <a:noAutofit/>
          </a:bodyPr>
          <a:lstStyle>
            <a:lvl1pPr algn="l">
              <a:buNone/>
              <a:defRPr sz="4300" b="1" cap="none" baseline="0">
                <a:ln w="12700">
                  <a:solidFill>
                    <a:schemeClr val="accent2">
                      <a:shade val="90000"/>
                      <a:satMod val="150000"/>
                    </a:schemeClr>
                  </a:solidFill>
                </a:ln>
                <a:solidFill>
                  <a:srgbClr val="FFFFFF"/>
                </a:solidFill>
                <a:effectLst>
                  <a:outerShdw blurRad="38100" dist="381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9007" y="3367088"/>
            <a:ext cx="10104120" cy="1509712"/>
          </a:xfrm>
        </p:spPr>
        <p:txBody>
          <a:bodyPr anchor="t"/>
          <a:lstStyle>
            <a:lvl1pPr marL="45720" indent="0">
              <a:buNone/>
              <a:defRPr sz="2100" b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685800"/>
            <a:ext cx="10698480" cy="10668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94360" y="1765301"/>
            <a:ext cx="525018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2660" y="1765301"/>
            <a:ext cx="525018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-16510" y="6413500"/>
            <a:ext cx="1244443" cy="457200"/>
          </a:xfrm>
        </p:spPr>
        <p:txBody>
          <a:bodyPr anchor="ctr"/>
          <a:lstStyle>
            <a:lvl1pPr algn="ctr">
              <a:defRPr sz="1050"/>
            </a:lvl1pPr>
          </a:lstStyle>
          <a:p>
            <a:fld id="{1D8BD707-D9CF-40AE-B4C6-C98DA3205C09}" type="datetimeFigureOut">
              <a:rPr lang="en-US" smtClean="0"/>
              <a:pPr/>
              <a:t>5/29/2023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" y="1143000"/>
            <a:ext cx="10896600" cy="1069848"/>
          </a:xfrm>
        </p:spPr>
        <p:txBody>
          <a:bodyPr anchor="ctr"/>
          <a:lstStyle>
            <a:lvl1pPr>
              <a:defRPr sz="4000" b="0" i="0" cap="none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2244971"/>
            <a:ext cx="5254142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37596" y="2244971"/>
            <a:ext cx="5254308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95300" y="2708519"/>
            <a:ext cx="5254142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33798" y="2708519"/>
            <a:ext cx="5254308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26" name="Date Placeholder 2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1D8BD707-D9CF-40AE-B4C6-C98DA3205C09}" type="datetimeFigureOut">
              <a:rPr lang="en-US" smtClean="0"/>
              <a:pPr/>
              <a:t>5/29/2023</a:t>
            </a:fld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Footer Placeholder 2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143000"/>
            <a:ext cx="10698480" cy="1069848"/>
          </a:xfrm>
        </p:spPr>
        <p:txBody>
          <a:bodyPr anchor="ctr"/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558784" y="612648"/>
            <a:ext cx="1244443" cy="457200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5/29/2023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6835140" y="612648"/>
            <a:ext cx="1723644" cy="4572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627157" y="2272"/>
            <a:ext cx="990600" cy="36576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5/29/2023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59545" y="1101971"/>
            <a:ext cx="4398264" cy="877824"/>
          </a:xfrm>
        </p:spPr>
        <p:txBody>
          <a:bodyPr anchor="b"/>
          <a:lstStyle>
            <a:lvl1pPr algn="l">
              <a:buNone/>
              <a:defRPr sz="18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959545" y="2010727"/>
            <a:ext cx="4398264" cy="4617720"/>
          </a:xfrm>
        </p:spPr>
        <p:txBody>
          <a:bodyPr/>
          <a:lstStyle>
            <a:lvl1pPr marL="9144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98120" y="776287"/>
            <a:ext cx="6633058" cy="585216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72567" y="1109161"/>
            <a:ext cx="762844" cy="4681637"/>
          </a:xfrm>
        </p:spPr>
        <p:txBody>
          <a:bodyPr vert="vert270" lIns="45720" tIns="0" rIns="45720" anchor="t"/>
          <a:lstStyle>
            <a:lvl1pPr algn="ctr">
              <a:buNone/>
              <a:defRPr sz="20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24772" y="1143000"/>
            <a:ext cx="5943600" cy="4572000"/>
          </a:xfrm>
          <a:solidFill>
            <a:srgbClr val="EAEAEA"/>
          </a:solidFill>
          <a:ln w="50800">
            <a:solidFill>
              <a:srgbClr val="FFFFFF"/>
            </a:solidFill>
            <a:miter lim="800000"/>
          </a:ln>
          <a:effectLst>
            <a:outerShdw blurRad="57150" dist="31750" dir="4800000" algn="tl" rotWithShape="0">
              <a:srgbClr val="000000">
                <a:alpha val="2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2540">
            <a:bevelT w="25400" h="19050"/>
            <a:contourClr>
              <a:srgbClr val="AEAEAE"/>
            </a:contourClr>
          </a:sp3d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14976" y="3274310"/>
            <a:ext cx="3368040" cy="2516489"/>
          </a:xfrm>
        </p:spPr>
        <p:txBody>
          <a:bodyPr lIns="0" tIns="0" rIns="4572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3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16340" y="1143000"/>
            <a:ext cx="2476500" cy="5486400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1143000"/>
            <a:ext cx="8122920" cy="5486400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4654" y="6094018"/>
            <a:ext cx="939081" cy="72237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1" y="366820"/>
            <a:ext cx="11887200" cy="84407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Rectangle 28"/>
          <p:cNvSpPr/>
          <p:nvPr/>
        </p:nvSpPr>
        <p:spPr>
          <a:xfrm>
            <a:off x="0" y="2"/>
            <a:ext cx="11887200" cy="310663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0" name="Rectangle 29"/>
          <p:cNvSpPr/>
          <p:nvPr/>
        </p:nvSpPr>
        <p:spPr>
          <a:xfrm>
            <a:off x="3" y="308278"/>
            <a:ext cx="11887201" cy="91441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1" name="Rectangle 30"/>
          <p:cNvSpPr/>
          <p:nvPr/>
        </p:nvSpPr>
        <p:spPr>
          <a:xfrm flipV="1">
            <a:off x="7033240" y="360248"/>
            <a:ext cx="4853965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 flipV="1">
            <a:off x="7033263" y="440114"/>
            <a:ext cx="4853941" cy="180035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3" name="Rounded Rectangle 32"/>
          <p:cNvSpPr/>
          <p:nvPr/>
        </p:nvSpPr>
        <p:spPr bwMode="white">
          <a:xfrm>
            <a:off x="7029541" y="497504"/>
            <a:ext cx="3982212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4" name="Rounded Rectangle 33"/>
          <p:cNvSpPr/>
          <p:nvPr/>
        </p:nvSpPr>
        <p:spPr bwMode="white">
          <a:xfrm>
            <a:off x="9585740" y="588943"/>
            <a:ext cx="208026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5" name="Rectangle 34"/>
          <p:cNvSpPr/>
          <p:nvPr/>
        </p:nvSpPr>
        <p:spPr bwMode="invGray">
          <a:xfrm>
            <a:off x="11810456" y="-2001"/>
            <a:ext cx="74914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6" name="Rectangle 35"/>
          <p:cNvSpPr/>
          <p:nvPr/>
        </p:nvSpPr>
        <p:spPr bwMode="invGray">
          <a:xfrm>
            <a:off x="11757825" y="-2001"/>
            <a:ext cx="35662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7" name="Rectangle 36"/>
          <p:cNvSpPr/>
          <p:nvPr/>
        </p:nvSpPr>
        <p:spPr bwMode="invGray">
          <a:xfrm>
            <a:off x="11733057" y="-2001"/>
            <a:ext cx="11887" cy="621792"/>
          </a:xfrm>
          <a:prstGeom prst="rect">
            <a:avLst/>
          </a:prstGeom>
          <a:solidFill>
            <a:srgbClr val="FFFFFF">
              <a:alpha val="6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8" name="Rectangle 37"/>
          <p:cNvSpPr/>
          <p:nvPr/>
        </p:nvSpPr>
        <p:spPr bwMode="invGray">
          <a:xfrm>
            <a:off x="11668050" y="-2001"/>
            <a:ext cx="35662" cy="621792"/>
          </a:xfrm>
          <a:prstGeom prst="rect">
            <a:avLst/>
          </a:prstGeom>
          <a:solidFill>
            <a:srgbClr val="FFFFFF">
              <a:alpha val="4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9" name="Rectangle 38"/>
          <p:cNvSpPr/>
          <p:nvPr/>
        </p:nvSpPr>
        <p:spPr bwMode="invGray">
          <a:xfrm>
            <a:off x="11590380" y="380"/>
            <a:ext cx="71323" cy="585216"/>
          </a:xfrm>
          <a:prstGeom prst="rect">
            <a:avLst/>
          </a:prstGeom>
          <a:solidFill>
            <a:srgbClr val="FFFFFF">
              <a:alpha val="2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40" name="Rectangle 39"/>
          <p:cNvSpPr/>
          <p:nvPr/>
        </p:nvSpPr>
        <p:spPr bwMode="invGray">
          <a:xfrm>
            <a:off x="11535518" y="380"/>
            <a:ext cx="11887" cy="585216"/>
          </a:xfrm>
          <a:prstGeom prst="rect">
            <a:avLst/>
          </a:prstGeom>
          <a:solidFill>
            <a:srgbClr val="FFFFFF">
              <a:alpha val="30196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594360" y="1143000"/>
            <a:ext cx="10698480" cy="10668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594360" y="2249424"/>
            <a:ext cx="10698480" cy="432511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62497" y="612648"/>
            <a:ext cx="1244443" cy="45720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5/29/2023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6835140" y="612648"/>
            <a:ext cx="1723644" cy="45720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10627157" y="2272"/>
            <a:ext cx="990600" cy="365760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800">
                <a:solidFill>
                  <a:srgbClr val="FFFFFF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5760" indent="-256032" algn="l" rtl="0" eaLnBrk="1" latinLnBrk="0" hangingPunct="1">
        <a:spcBef>
          <a:spcPts val="300"/>
        </a:spcBef>
        <a:buClr>
          <a:schemeClr val="accent3"/>
        </a:buClr>
        <a:buFont typeface="Georgia"/>
        <a:buChar char="•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58368" indent="-246888" algn="l" rtl="0" eaLnBrk="1" latinLnBrk="0" hangingPunct="1">
        <a:spcBef>
          <a:spcPts val="300"/>
        </a:spcBef>
        <a:buClr>
          <a:schemeClr val="accent2"/>
        </a:buClr>
        <a:buFont typeface="Georgia"/>
        <a:buChar char="▫"/>
        <a:defRPr kumimoji="0" sz="2600" kern="1200">
          <a:solidFill>
            <a:schemeClr val="accent2"/>
          </a:solidFill>
          <a:latin typeface="+mn-lt"/>
          <a:ea typeface="+mn-ea"/>
          <a:cs typeface="+mn-cs"/>
        </a:defRPr>
      </a:lvl2pPr>
      <a:lvl3pPr marL="923544" indent="-219456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4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179576" indent="-201168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38988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2000" kern="1200">
          <a:solidFill>
            <a:schemeClr val="accent3"/>
          </a:solidFill>
          <a:latin typeface="+mn-lt"/>
          <a:ea typeface="+mn-ea"/>
          <a:cs typeface="+mn-cs"/>
        </a:defRPr>
      </a:lvl5pPr>
      <a:lvl6pPr marL="1609344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800" kern="1200">
          <a:solidFill>
            <a:schemeClr val="accent3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600" kern="1200">
          <a:solidFill>
            <a:schemeClr val="accent3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500" kern="1200">
          <a:solidFill>
            <a:schemeClr val="accent3"/>
          </a:solidFill>
          <a:latin typeface="+mn-lt"/>
          <a:ea typeface="+mn-ea"/>
          <a:cs typeface="+mn-cs"/>
        </a:defRPr>
      </a:lvl8pPr>
      <a:lvl9pPr marL="224028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400" kern="1200" baseline="0">
          <a:solidFill>
            <a:schemeClr val="accent3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microsoft.com/office/2007/relationships/hdphoto" Target="../media/hdphoto7.wdp"/><Relationship Id="rId4" Type="http://schemas.openxmlformats.org/officeDocument/2006/relationships/image" Target="../media/image10.jpe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Digital Systems Design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Processor Logic Design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266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Introduction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 computer CPU must manipulate not only </a:t>
            </a:r>
            <a:r>
              <a:rPr lang="en-US" sz="2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data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but also </a:t>
            </a:r>
            <a:r>
              <a:rPr lang="en-US" sz="2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instruction codes 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and </a:t>
            </a:r>
            <a:r>
              <a:rPr lang="en-US" sz="2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addresses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coming from memory.</a:t>
            </a:r>
          </a:p>
          <a:p>
            <a:pPr>
              <a:spcAft>
                <a:spcPts val="1200"/>
              </a:spcAft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The register that holds and manipulates the operation code of instructions is considered to be part of the control unit.</a:t>
            </a:r>
          </a:p>
          <a:p>
            <a:pPr>
              <a:spcAft>
                <a:spcPts val="1200"/>
              </a:spcAft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Here, we will learn about the general-purpose register, commonly called an </a:t>
            </a:r>
            <a:r>
              <a:rPr lang="en-US" sz="2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accumulator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.</a:t>
            </a:r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00027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Processor Organization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In a well organized processor unit, the data paths are formed by means of buses and other common lines.</a:t>
            </a:r>
          </a:p>
          <a:p>
            <a:pPr>
              <a:spcAft>
                <a:spcPts val="1200"/>
              </a:spcAft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The control gates that formulate the given path are essentially multiplexers and decoders whose selection lines specify the required path.</a:t>
            </a:r>
          </a:p>
          <a:p>
            <a:pPr>
              <a:spcAft>
                <a:spcPts val="1200"/>
              </a:spcAft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All organizations employ a common ALU and shifter.</a:t>
            </a:r>
          </a:p>
          <a:p>
            <a:pPr>
              <a:spcAft>
                <a:spcPts val="1200"/>
              </a:spcAft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The differences in organizations are mostly manifested in the organization of the registers and their common path to the ALU.</a:t>
            </a:r>
            <a:endParaRPr lang="en-US" sz="2000" dirty="0" smtClean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1317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Bus Organization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31000" contrast="3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5257" y="27710"/>
            <a:ext cx="5117306" cy="6823076"/>
          </a:xfrm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594360" y="1765300"/>
            <a:ext cx="6263640" cy="432511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•"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Font typeface="Georgia"/>
              <a:buChar char="▫"/>
              <a:defRPr kumimoji="0" sz="26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2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2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2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When a large number of registers are included in a processor unit, it is most efficient to connect them through common buses or arrange them as a small memory having very fast access time.</a:t>
            </a:r>
          </a:p>
          <a:p>
            <a:pPr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In the figure, there are 4 processor registers. Each register is connected to 2 MUXs to form input buses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and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The result from the shifter goes through the output bus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into the inputs of all registers.</a:t>
            </a:r>
          </a:p>
          <a:p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8648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Scratchpad Memory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4360" y="1765300"/>
            <a:ext cx="5913516" cy="4325112"/>
          </a:xfrm>
        </p:spPr>
        <p:txBody>
          <a:bodyPr>
            <a:normAutofit/>
          </a:bodyPr>
          <a:lstStyle/>
          <a:p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The registers in a processor unit can be enclosed within a small memory unit. This memory is called scratchpad memory.</a:t>
            </a:r>
          </a:p>
          <a:p>
            <a:pPr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For example, a processor unit employs 8 registers of 16 bits each. The 8 memory words can be designated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R0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through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R7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 single register can be selected by means of an address to the memory unit. </a:t>
            </a:r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30000" contrast="3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7876" y="152400"/>
            <a:ext cx="5299628" cy="66461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699079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2-Port Memory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4360" y="1765300"/>
            <a:ext cx="5731475" cy="4325112"/>
          </a:xfrm>
        </p:spPr>
        <p:txBody>
          <a:bodyPr>
            <a:normAutofit/>
          </a:bodyPr>
          <a:lstStyle/>
          <a:p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Some processors employ a 2-port memory in order to overcome the delay caused when reading 2 source registers.</a:t>
            </a:r>
          </a:p>
          <a:p>
            <a:pPr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When enabled by the memory enable (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ME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) input, new data can be written into the word specified by the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address.</a:t>
            </a:r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2000" contrast="3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5835" y="2286000"/>
            <a:ext cx="5528129" cy="457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5720223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Accumulator Register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4360" y="1765300"/>
            <a:ext cx="7025640" cy="4325112"/>
          </a:xfrm>
        </p:spPr>
        <p:txBody>
          <a:bodyPr>
            <a:normAutofit/>
          </a:bodyPr>
          <a:lstStyle/>
          <a:p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Some processor units separate one register from all others and call it an accumulator register (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AC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or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register).</a:t>
            </a:r>
          </a:p>
          <a:p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It is a multipurpose register capable of performing not only the add </a:t>
            </a:r>
            <a:r>
              <a:rPr lang="en-US" sz="2400" dirty="0" err="1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microoperation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, but many other </a:t>
            </a:r>
            <a:r>
              <a:rPr lang="en-US" sz="2400" dirty="0" err="1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microoperations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as well.</a:t>
            </a:r>
          </a:p>
          <a:p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To form the sum of 2 numbers stored in processor unit, we need;</a:t>
            </a:r>
          </a:p>
          <a:p>
            <a:pPr marL="109728" indent="0" algn="ctr">
              <a:buNone/>
            </a:pP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</a:t>
            </a:r>
            <a:r>
              <a:rPr lang="en-US" sz="2400" baseline="-250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:	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/>
                <a:cs typeface="Times New Roman"/>
              </a:rPr>
              <a:t>←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0	   </a:t>
            </a:r>
          </a:p>
          <a:p>
            <a:pPr marL="109728" indent="0" algn="ctr">
              <a:buNone/>
            </a:pP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</a:t>
            </a:r>
            <a:r>
              <a:rPr lang="en-US" sz="2400" baseline="-250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:	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Times New Roman"/>
                <a:cs typeface="Times New Roman"/>
              </a:rPr>
              <a:t>←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 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R1</a:t>
            </a:r>
          </a:p>
          <a:p>
            <a:pPr marL="109728" indent="0" algn="ctr">
              <a:buNone/>
            </a:pP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</a:t>
            </a:r>
            <a:r>
              <a:rPr lang="en-US" sz="2400" baseline="-250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3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:	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Times New Roman"/>
                <a:cs typeface="Times New Roman"/>
              </a:rPr>
              <a:t> ←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 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R2</a:t>
            </a:r>
            <a:endParaRPr lang="en-US" sz="2000" i="1" dirty="0" smtClean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57876" y="1905000"/>
            <a:ext cx="2119724" cy="813391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233262" y="1972270"/>
            <a:ext cx="19270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Processor registers or Memory Unit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151299" y="3301409"/>
            <a:ext cx="2119724" cy="813391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867196" y="3530009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ALU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151299" y="4673009"/>
            <a:ext cx="2119724" cy="813391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9522692" y="4756538"/>
            <a:ext cx="13901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Accumulator</a:t>
            </a:r>
          </a:p>
          <a:p>
            <a:pPr algn="ctr"/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Register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1" name="Straight Arrow Connector 10"/>
          <p:cNvCxnSpPr>
            <a:stCxn id="7" idx="2"/>
            <a:endCxn id="9" idx="0"/>
          </p:cNvCxnSpPr>
          <p:nvPr/>
        </p:nvCxnSpPr>
        <p:spPr>
          <a:xfrm>
            <a:off x="10211161" y="4114800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>
            <a:off x="10221551" y="5486400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10169064" y="1346791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10754951" y="2718391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9611951" y="2997495"/>
            <a:ext cx="0" cy="282005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endCxn id="5" idx="1"/>
          </p:cNvCxnSpPr>
          <p:nvPr/>
        </p:nvCxnSpPr>
        <p:spPr>
          <a:xfrm>
            <a:off x="8392751" y="2311695"/>
            <a:ext cx="765125" cy="1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H="1">
            <a:off x="8621351" y="5765504"/>
            <a:ext cx="1600200" cy="0"/>
          </a:xfrm>
          <a:prstGeom prst="line">
            <a:avLst/>
          </a:prstGeom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V="1">
            <a:off x="8621351" y="2997495"/>
            <a:ext cx="0" cy="2768009"/>
          </a:xfrm>
          <a:prstGeom prst="line">
            <a:avLst/>
          </a:prstGeom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8621351" y="2997495"/>
            <a:ext cx="990600" cy="0"/>
          </a:xfrm>
          <a:prstGeom prst="line">
            <a:avLst/>
          </a:prstGeom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611951" y="6055563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Output data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367516" y="1988530"/>
            <a:ext cx="1115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Select </a:t>
            </a:r>
            <a:r>
              <a:rPr lang="en-US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source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612833" y="981486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Input data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798075" y="281282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endParaRPr lang="en-US" i="1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658314" y="2812829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733264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Arithmetic Logic Unit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4360" y="1765300"/>
            <a:ext cx="6720840" cy="4325112"/>
          </a:xfrm>
        </p:spPr>
        <p:txBody>
          <a:bodyPr>
            <a:normAutofit/>
          </a:bodyPr>
          <a:lstStyle/>
          <a:p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ALU can perform a set of basic arithmetic operations and a set of logic operations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/>
                <a:cs typeface="Times New Roman"/>
              </a:rPr>
              <a:t>.</a:t>
            </a:r>
          </a:p>
          <a:p>
            <a:pPr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/>
                <a:cs typeface="Times New Roman"/>
              </a:rPr>
              <a:t>It has a number of selection lines to select a particular operation in the unit.</a:t>
            </a:r>
          </a:p>
          <a:p>
            <a:pPr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/>
                <a:cs typeface="Times New Roman"/>
              </a:rPr>
              <a:t>The selection lines are decoded within the ALU so that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/>
                <a:cs typeface="Times New Roman"/>
              </a:rPr>
              <a:t>k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/>
                <a:cs typeface="Times New Roman"/>
              </a:rPr>
              <a:t> selection variables can specify up to 2</a:t>
            </a:r>
            <a:r>
              <a:rPr lang="en-US" sz="2400" i="1" baseline="30000" dirty="0" smtClean="0">
                <a:solidFill>
                  <a:schemeClr val="bg2">
                    <a:lumMod val="10000"/>
                  </a:schemeClr>
                </a:solidFill>
                <a:latin typeface="Times New Roman"/>
                <a:cs typeface="Times New Roman"/>
              </a:rPr>
              <a:t>k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/>
                <a:cs typeface="Times New Roman"/>
              </a:rPr>
              <a:t> distinct operations. </a:t>
            </a:r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/>
              <a:cs typeface="Times New Roman"/>
            </a:endParaRPr>
          </a:p>
          <a:p>
            <a:pPr marL="109728" indent="0">
              <a:buNone/>
            </a:pPr>
            <a:endParaRPr lang="en-US" sz="2400" i="1" dirty="0">
              <a:solidFill>
                <a:schemeClr val="bg2">
                  <a:lumMod val="10000"/>
                </a:schemeClr>
              </a:solidFill>
              <a:latin typeface="Times New Roman"/>
              <a:cs typeface="Times New Roman"/>
            </a:endParaRPr>
          </a:p>
          <a:p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111835" y="3301409"/>
            <a:ext cx="2965223" cy="1346791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10702635" y="2743200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10550235" y="2743200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10397835" y="2746101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0245435" y="2746101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9178635" y="2743200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9026235" y="2743200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8873835" y="2746101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8721435" y="2746101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9961415" y="4648200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9809015" y="4648200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9656615" y="4651101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9504215" y="4651101"/>
            <a:ext cx="0" cy="558209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4" idx="1"/>
          </p:cNvCxnSpPr>
          <p:nvPr/>
        </p:nvCxnSpPr>
        <p:spPr>
          <a:xfrm flipH="1" flipV="1">
            <a:off x="7654635" y="3974804"/>
            <a:ext cx="457200" cy="1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H="1" flipV="1">
            <a:off x="11083635" y="3505200"/>
            <a:ext cx="457200" cy="1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 flipV="1">
            <a:off x="11083635" y="3733799"/>
            <a:ext cx="457200" cy="1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 flipV="1">
            <a:off x="11083635" y="3962399"/>
            <a:ext cx="457200" cy="1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H="1" flipV="1">
            <a:off x="11083635" y="4190999"/>
            <a:ext cx="457200" cy="1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775161" y="2349060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21635" y="2373868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endParaRPr lang="en-US" i="1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197435" y="3829310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baseline="-25000" dirty="0" err="1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out</a:t>
            </a:r>
            <a:endParaRPr lang="en-US" baseline="-250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636011" y="5258515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18361" y="3364468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baseline="-250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endParaRPr lang="en-US" baseline="-250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1508112" y="3544578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baseline="-25000" dirty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08112" y="3782290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baseline="-25000" dirty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80402" y="4066305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US" baseline="-25000" dirty="0" err="1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in</a:t>
            </a:r>
            <a:endParaRPr lang="en-US" baseline="-250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566883" y="3678380"/>
            <a:ext cx="224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Arithmetic Logic Unit</a:t>
            </a:r>
          </a:p>
          <a:p>
            <a:pPr algn="ctr"/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(ALU)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68643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Design of Arithmetic Circuit</a:t>
            </a:r>
            <a:endParaRPr lang="en-US" dirty="0"/>
          </a:p>
        </p:txBody>
      </p:sp>
      <p:sp>
        <p:nvSpPr>
          <p:cNvPr id="93" name="Content Placeholder 2"/>
          <p:cNvSpPr>
            <a:spLocks noGrp="1"/>
          </p:cNvSpPr>
          <p:nvPr>
            <p:ph idx="1"/>
          </p:nvPr>
        </p:nvSpPr>
        <p:spPr>
          <a:xfrm>
            <a:off x="557189" y="1726580"/>
            <a:ext cx="6416040" cy="4325112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The </a:t>
            </a:r>
            <a:r>
              <a:rPr lang="en-US" sz="2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basic component 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of the arithmetic section of an ALU is a parallel adder.</a:t>
            </a:r>
          </a:p>
          <a:p>
            <a:pPr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 parallel adder is constructed with a number of full-adder circuits connected in cascade. </a:t>
            </a:r>
          </a:p>
          <a:p>
            <a:pPr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The circuit that controls input B to provide the functions is called a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true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/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complement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one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/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zero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element.</a:t>
            </a:r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/>
              <a:cs typeface="Times New Roman"/>
            </a:endParaRPr>
          </a:p>
          <a:p>
            <a:pPr>
              <a:spcBef>
                <a:spcPts val="1200"/>
              </a:spcBef>
            </a:pPr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33000" contrast="3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0400" y="228600"/>
            <a:ext cx="4841632" cy="66001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0552138"/>
              </p:ext>
            </p:extLst>
          </p:nvPr>
        </p:nvGraphicFramePr>
        <p:xfrm>
          <a:off x="2514600" y="4800600"/>
          <a:ext cx="2209800" cy="1879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366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7366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7366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lang="en-US" baseline="-250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baseline="-25000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u="none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lang="en-US" baseline="-250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baseline="-25000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r>
                        <a:rPr lang="en-US" i="1" baseline="-250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endParaRPr lang="en-US" i="1" baseline="-25000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B</a:t>
                      </a:r>
                      <a:r>
                        <a:rPr lang="en-US" i="1" baseline="-250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endParaRPr lang="en-US" i="1" baseline="-25000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B</a:t>
                      </a:r>
                      <a:r>
                        <a:rPr lang="en-US" i="1" baseline="-250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i</a:t>
                      </a:r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alibri" pitchFamily="34" charset="0"/>
                          <a:cs typeface="Calibri" pitchFamily="34" charset="0"/>
                        </a:rPr>
                        <a:t>’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48707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Design of Arithmetic Circuit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32000" contrast="3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0290" y="1305573"/>
            <a:ext cx="5025290" cy="55177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99756937"/>
              </p:ext>
            </p:extLst>
          </p:nvPr>
        </p:nvGraphicFramePr>
        <p:xfrm>
          <a:off x="533400" y="2133600"/>
          <a:ext cx="6111875" cy="41021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5407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36220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410210"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Function select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Y equals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Output equals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lang="en-US" baseline="-250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baseline="-25000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s</a:t>
                      </a:r>
                      <a:r>
                        <a:rPr lang="en-US" baseline="-250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baseline="-25000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err="1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C</a:t>
                      </a:r>
                      <a:r>
                        <a:rPr lang="en-US" baseline="-25000" dirty="0" err="1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in</a:t>
                      </a:r>
                      <a:endParaRPr lang="en-US" baseline="-25000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 = </a:t>
                      </a:r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A</a:t>
                      </a:r>
                      <a:endParaRPr lang="en-US" i="1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 = </a:t>
                      </a:r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A + </a:t>
                      </a:r>
                      <a:r>
                        <a:rPr lang="en-US" i="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B</a:t>
                      </a:r>
                      <a:endParaRPr lang="en-US" i="1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 = </a:t>
                      </a:r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A + 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B</a:t>
                      </a:r>
                      <a:endParaRPr lang="en-US" i="1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 = </a:t>
                      </a:r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A + B + </a:t>
                      </a:r>
                      <a:r>
                        <a:rPr lang="en-US" i="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i="0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B</a:t>
                      </a:r>
                      <a:r>
                        <a:rPr lang="en-US" i="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alibri" pitchFamily="34" charset="0"/>
                          <a:cs typeface="Calibri" pitchFamily="34" charset="0"/>
                        </a:rPr>
                        <a:t>’</a:t>
                      </a:r>
                      <a:endParaRPr lang="en-US" i="0" dirty="0">
                        <a:solidFill>
                          <a:schemeClr val="bg2">
                            <a:lumMod val="10000"/>
                          </a:schemeClr>
                        </a:solidFill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 = </a:t>
                      </a:r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A +  B</a:t>
                      </a:r>
                      <a:r>
                        <a:rPr lang="en-US" i="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alibri" pitchFamily="34" charset="0"/>
                          <a:cs typeface="Calibri" pitchFamily="34" charset="0"/>
                        </a:rPr>
                        <a:t>’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B</a:t>
                      </a:r>
                      <a:r>
                        <a:rPr lang="en-US" i="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alibri" pitchFamily="34" charset="0"/>
                          <a:cs typeface="Calibri" pitchFamily="34" charset="0"/>
                        </a:rPr>
                        <a:t>’</a:t>
                      </a:r>
                      <a:endParaRPr lang="en-US" i="0" dirty="0">
                        <a:solidFill>
                          <a:schemeClr val="bg2">
                            <a:lumMod val="10000"/>
                          </a:schemeClr>
                        </a:solidFill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 = </a:t>
                      </a:r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A + B</a:t>
                      </a:r>
                      <a:r>
                        <a:rPr lang="en-US" i="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alibri" pitchFamily="34" charset="0"/>
                          <a:cs typeface="Calibri" pitchFamily="34" charset="0"/>
                        </a:rPr>
                        <a:t>’ </a:t>
                      </a:r>
                      <a:r>
                        <a:rPr lang="en-US" i="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+ 1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All 1’s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 = </a:t>
                      </a:r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A – </a:t>
                      </a:r>
                      <a:r>
                        <a:rPr lang="en-US" i="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 </a:t>
                      </a:r>
                      <a:endParaRPr lang="en-US" i="0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41021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All 1’s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F</a:t>
                      </a:r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 = </a:t>
                      </a:r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A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1157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Design of Logic Circuit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Content Placeholder 2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140984905"/>
                  </p:ext>
                </p:extLst>
              </p:nvPr>
            </p:nvGraphicFramePr>
            <p:xfrm>
              <a:off x="609600" y="2286000"/>
              <a:ext cx="5959476" cy="18542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54075">
                      <a:extLst>
                        <a:ext uri="{9D8B030D-6E8A-4147-A177-3AD203B41FA5}">
                          <a16:colId xmlns="" xmlns:a16="http://schemas.microsoft.com/office/drawing/2014/main" val="20000"/>
                        </a:ext>
                      </a:extLst>
                    </a:gridCol>
                    <a:gridCol w="1066800">
                      <a:extLst>
                        <a:ext uri="{9D8B030D-6E8A-4147-A177-3AD203B41FA5}">
                          <a16:colId xmlns="" xmlns:a16="http://schemas.microsoft.com/office/drawing/2014/main" val="20001"/>
                        </a:ext>
                      </a:extLst>
                    </a:gridCol>
                    <a:gridCol w="2133600">
                      <a:extLst>
                        <a:ext uri="{9D8B030D-6E8A-4147-A177-3AD203B41FA5}">
                          <a16:colId xmlns="" xmlns:a16="http://schemas.microsoft.com/office/drawing/2014/main" val="20002"/>
                        </a:ext>
                      </a:extLst>
                    </a:gridCol>
                    <a:gridCol w="1905001">
                      <a:extLst>
                        <a:ext uri="{9D8B030D-6E8A-4147-A177-3AD203B41FA5}">
                          <a16:colId xmlns=""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s</a:t>
                          </a:r>
                          <a:r>
                            <a:rPr lang="en-US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s</a:t>
                          </a:r>
                          <a:r>
                            <a:rPr lang="en-US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0</a:t>
                          </a:r>
                          <a:endParaRPr lang="en-US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Output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Operation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0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0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F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=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+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B</a:t>
                          </a:r>
                          <a:endParaRPr lang="en-US" i="1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OR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0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F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=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⊕</m:t>
                              </m:r>
                            </m:oMath>
                          </a14:m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B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XOR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0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F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=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AB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AND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F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libri" pitchFamily="34" charset="0"/>
                              <a:cs typeface="Calibri" pitchFamily="34" charset="0"/>
                            </a:rPr>
                            <a:t>’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=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libri" pitchFamily="34" charset="0"/>
                              <a:cs typeface="Calibri" pitchFamily="34" charset="0"/>
                            </a:rPr>
                            <a:t>’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libri" pitchFamily="34" charset="0"/>
                            <a:cs typeface="Calibri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NOT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Content Placeholder 2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140984905"/>
                  </p:ext>
                </p:extLst>
              </p:nvPr>
            </p:nvGraphicFramePr>
            <p:xfrm>
              <a:off x="609600" y="2286000"/>
              <a:ext cx="5959476" cy="18542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854075"/>
                    <a:gridCol w="1066800"/>
                    <a:gridCol w="2133600"/>
                    <a:gridCol w="1905001"/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s</a:t>
                          </a:r>
                          <a:r>
                            <a:rPr lang="en-US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s</a:t>
                          </a:r>
                          <a:r>
                            <a:rPr lang="en-US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0</a:t>
                          </a:r>
                          <a:endParaRPr lang="en-US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Output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Operation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0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0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F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=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+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B</a:t>
                          </a:r>
                          <a:endParaRPr lang="en-US" i="1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OR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0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 rotWithShape="1">
                          <a:blip r:embed="rId2"/>
                          <a:stretch>
                            <a:fillRect l="-90000" t="-211667" r="-89429" b="-22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XOR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0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F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=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AB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AND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F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libri" pitchFamily="34" charset="0"/>
                              <a:cs typeface="Calibri" pitchFamily="34" charset="0"/>
                            </a:rPr>
                            <a:t>’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=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libri" pitchFamily="34" charset="0"/>
                              <a:cs typeface="Calibri" pitchFamily="34" charset="0"/>
                            </a:rPr>
                            <a:t>’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libri" pitchFamily="34" charset="0"/>
                            <a:cs typeface="Calibri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NOT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77495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Design of Arithmetic </a:t>
            </a:r>
            <a:br>
              <a:rPr lang="en-US" dirty="0" smtClean="0">
                <a:latin typeface="Times New Roman" pitchFamily="18" charset="0"/>
                <a:cs typeface="Times New Roman" pitchFamily="18" charset="0"/>
              </a:rPr>
            </a:b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Logic Unit</a:t>
            </a:r>
            <a:endParaRPr lang="en-US" dirty="0"/>
          </a:p>
        </p:txBody>
      </p:sp>
      <p:sp>
        <p:nvSpPr>
          <p:cNvPr id="93" name="Content Placeholder 2"/>
          <p:cNvSpPr>
            <a:spLocks noGrp="1"/>
          </p:cNvSpPr>
          <p:nvPr>
            <p:ph idx="1"/>
          </p:nvPr>
        </p:nvSpPr>
        <p:spPr>
          <a:xfrm>
            <a:off x="594360" y="1765300"/>
            <a:ext cx="6558316" cy="4325112"/>
          </a:xfrm>
        </p:spPr>
        <p:txBody>
          <a:bodyPr>
            <a:normAutofit/>
          </a:bodyPr>
          <a:lstStyle/>
          <a:p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To combine the two unit we need another selection line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sz="2400" baseline="-250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.</a:t>
            </a:r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pPr marL="109728" indent="0">
              <a:buNone/>
            </a:pPr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33000" contrast="3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2676" y="48463"/>
            <a:ext cx="4703749" cy="6790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4" cstate="print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brightnessContrast bright="32000" contrast="3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3031895"/>
            <a:ext cx="5020959" cy="3798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00764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Status Register</a:t>
            </a:r>
            <a:endParaRPr lang="en-US" dirty="0"/>
          </a:p>
        </p:txBody>
      </p:sp>
      <p:sp>
        <p:nvSpPr>
          <p:cNvPr id="93" name="Content Placeholder 2"/>
          <p:cNvSpPr>
            <a:spLocks noGrp="1"/>
          </p:cNvSpPr>
          <p:nvPr>
            <p:ph idx="1"/>
          </p:nvPr>
        </p:nvSpPr>
        <p:spPr>
          <a:xfrm>
            <a:off x="594360" y="1765300"/>
            <a:ext cx="5654040" cy="4325112"/>
          </a:xfrm>
        </p:spPr>
        <p:txBody>
          <a:bodyPr>
            <a:normAutofit/>
          </a:bodyPr>
          <a:lstStyle/>
          <a:p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It is sometimes convenient to supplement the ALU with a status register where these status-bit conditions are stored for further analysis.</a:t>
            </a:r>
          </a:p>
          <a:p>
            <a:pPr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Status-bit conditions are sometimes called </a:t>
            </a:r>
            <a:r>
              <a:rPr lang="en-US" sz="2400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condition-code</a:t>
            </a:r>
            <a:r>
              <a:rPr lang="en-US" sz="2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bits or </a:t>
            </a:r>
            <a:r>
              <a:rPr lang="en-US" sz="2400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flag</a:t>
            </a:r>
            <a:r>
              <a:rPr lang="en-US" sz="24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bits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. </a:t>
            </a:r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32000" contrast="3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8467" y="1752600"/>
            <a:ext cx="5737518" cy="50776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60155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Design of Shifter</a:t>
            </a:r>
            <a:endParaRPr lang="en-US" dirty="0"/>
          </a:p>
        </p:txBody>
      </p:sp>
      <p:sp>
        <p:nvSpPr>
          <p:cNvPr id="93" name="Content Placeholder 2"/>
          <p:cNvSpPr>
            <a:spLocks noGrp="1"/>
          </p:cNvSpPr>
          <p:nvPr>
            <p:ph idx="1"/>
          </p:nvPr>
        </p:nvSpPr>
        <p:spPr>
          <a:xfrm>
            <a:off x="594360" y="1765300"/>
            <a:ext cx="4171605" cy="4325112"/>
          </a:xfrm>
        </p:spPr>
        <p:txBody>
          <a:bodyPr>
            <a:normAutofit/>
          </a:bodyPr>
          <a:lstStyle/>
          <a:p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The shifter may transfer the information directly without a shift, or it may shift the information to the right or to the left.</a:t>
            </a:r>
          </a:p>
          <a:p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H</a:t>
            </a:r>
            <a:r>
              <a:rPr lang="en-US" sz="2400" baseline="-250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may be employed to specify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sz="2400" i="1" baseline="-250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R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or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sz="2400" i="1" baseline="-250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L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during shift.</a:t>
            </a:r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32000" contrast="3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5965" y="1582492"/>
            <a:ext cx="7086600" cy="52443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5" name="Content Placeholder 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9696847"/>
              </p:ext>
            </p:extLst>
          </p:nvPr>
        </p:nvGraphicFramePr>
        <p:xfrm>
          <a:off x="609600" y="4775200"/>
          <a:ext cx="3825876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5407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905001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1" baseline="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H</a:t>
                      </a:r>
                      <a:r>
                        <a:rPr lang="en-US" baseline="-250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baseline="-25000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H</a:t>
                      </a:r>
                      <a:r>
                        <a:rPr lang="en-US" baseline="-250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baseline="-25000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Operation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No shift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Shift right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0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Shift</a:t>
                      </a:r>
                      <a:r>
                        <a:rPr lang="en-US" baseline="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 left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Assign</a:t>
                      </a:r>
                      <a:r>
                        <a:rPr lang="en-US" baseline="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Times New Roman" pitchFamily="18" charset="0"/>
                          <a:cs typeface="Times New Roman" pitchFamily="18" charset="0"/>
                        </a:rPr>
                        <a:t> zero</a:t>
                      </a:r>
                      <a:endParaRPr 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7488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Processor Unit</a:t>
            </a:r>
            <a:endParaRPr lang="en-US" dirty="0"/>
          </a:p>
        </p:txBody>
      </p:sp>
      <p:sp>
        <p:nvSpPr>
          <p:cNvPr id="93" name="Content Placeholder 2"/>
          <p:cNvSpPr>
            <a:spLocks noGrp="1"/>
          </p:cNvSpPr>
          <p:nvPr>
            <p:ph idx="1"/>
          </p:nvPr>
        </p:nvSpPr>
        <p:spPr>
          <a:xfrm>
            <a:off x="594360" y="1765300"/>
            <a:ext cx="6118165" cy="4325112"/>
          </a:xfrm>
        </p:spPr>
        <p:txBody>
          <a:bodyPr>
            <a:normAutofit/>
          </a:bodyPr>
          <a:lstStyle/>
          <a:p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The selection variables in a processor unit control the </a:t>
            </a:r>
            <a:r>
              <a:rPr lang="en-US" sz="2400" dirty="0" err="1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microoperations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executed within the processor during any given clock pulse.</a:t>
            </a:r>
          </a:p>
          <a:p>
            <a:pPr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16 selection variables in the unit and their functions 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are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specified by a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control word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The control word is partitioned into 6 fields with each field designated by a letter name.</a:t>
            </a:r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  <a14:imgEffect>
                      <a14:brightnessContrast bright="32000" contrast="3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2525" y="1346887"/>
            <a:ext cx="5151057" cy="5511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363699"/>
              </p:ext>
            </p:extLst>
          </p:nvPr>
        </p:nvGraphicFramePr>
        <p:xfrm>
          <a:off x="7772400" y="787400"/>
          <a:ext cx="28956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826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826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826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48260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48260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482600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</a:rPr>
                        <a:t>A</a:t>
                      </a:r>
                      <a:endParaRPr lang="en-US" i="1" dirty="0">
                        <a:solidFill>
                          <a:schemeClr val="bg2">
                            <a:lumMod val="10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</a:rPr>
                        <a:t>B</a:t>
                      </a:r>
                      <a:endParaRPr lang="en-US" i="1" dirty="0">
                        <a:solidFill>
                          <a:schemeClr val="bg2">
                            <a:lumMod val="10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</a:rPr>
                        <a:t>D</a:t>
                      </a:r>
                      <a:endParaRPr lang="en-US" i="1" dirty="0">
                        <a:solidFill>
                          <a:schemeClr val="bg2">
                            <a:lumMod val="10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</a:rPr>
                        <a:t>F</a:t>
                      </a:r>
                      <a:endParaRPr lang="en-US" i="1" dirty="0">
                        <a:solidFill>
                          <a:schemeClr val="bg2">
                            <a:lumMod val="10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</a:rPr>
                        <a:t>C</a:t>
                      </a:r>
                      <a:r>
                        <a:rPr lang="en-US" i="0" baseline="-25000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</a:rPr>
                        <a:t>in</a:t>
                      </a:r>
                      <a:endParaRPr lang="en-US" i="0" baseline="-25000" dirty="0">
                        <a:solidFill>
                          <a:schemeClr val="bg2">
                            <a:lumMod val="10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 smtClean="0">
                          <a:solidFill>
                            <a:schemeClr val="bg2">
                              <a:lumMod val="10000"/>
                            </a:schemeClr>
                          </a:solidFill>
                        </a:rPr>
                        <a:t>H</a:t>
                      </a:r>
                      <a:endParaRPr lang="en-US" i="1" dirty="0">
                        <a:solidFill>
                          <a:schemeClr val="bg2">
                            <a:lumMod val="10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97816" y="78971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Control word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96200" y="481933"/>
            <a:ext cx="3102131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1..3     4..6     7..9   10..12    13    14..16 </a:t>
            </a:r>
            <a:endParaRPr lang="en-US" sz="1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1503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Design of Accumulator</a:t>
            </a:r>
            <a:endParaRPr lang="en-US" dirty="0"/>
          </a:p>
        </p:txBody>
      </p:sp>
      <p:sp>
        <p:nvSpPr>
          <p:cNvPr id="93" name="Content Placeholder 2"/>
          <p:cNvSpPr>
            <a:spLocks noGrp="1"/>
          </p:cNvSpPr>
          <p:nvPr>
            <p:ph idx="1"/>
          </p:nvPr>
        </p:nvSpPr>
        <p:spPr>
          <a:xfrm>
            <a:off x="594360" y="1765300"/>
            <a:ext cx="7178040" cy="4325112"/>
          </a:xfrm>
        </p:spPr>
        <p:txBody>
          <a:bodyPr>
            <a:normAutofit/>
          </a:bodyPr>
          <a:lstStyle/>
          <a:p>
            <a:pPr algn="just">
              <a:spcBef>
                <a:spcPts val="1200"/>
              </a:spcBef>
            </a:pPr>
            <a:r>
              <a:rPr lang="en-US" sz="22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An accumulator is a sequential circuit with </a:t>
            </a:r>
            <a:r>
              <a:rPr lang="en-US" sz="22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sz="22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register and the associated combinational circuit. It requires control variables </a:t>
            </a:r>
            <a:r>
              <a:rPr lang="en-US" sz="22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p</a:t>
            </a:r>
            <a:r>
              <a:rPr lang="en-US" sz="2200" baseline="-250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US" sz="22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through </a:t>
            </a:r>
            <a:r>
              <a:rPr lang="en-US" sz="22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p</a:t>
            </a:r>
            <a:r>
              <a:rPr lang="en-US" sz="2200" baseline="-250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9</a:t>
            </a:r>
            <a:r>
              <a:rPr lang="en-US" sz="22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generated by control logic circuits.</a:t>
            </a:r>
            <a:endParaRPr lang="en-US" sz="22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305800" y="2819400"/>
            <a:ext cx="2057400" cy="533400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Register </a:t>
            </a:r>
            <a:r>
              <a:rPr lang="en-US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endParaRPr lang="en-US" i="1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326582" y="4152900"/>
            <a:ext cx="2057400" cy="876300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Combinational Circuit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9355282" y="5029200"/>
            <a:ext cx="1" cy="83820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8763000" y="5029200"/>
            <a:ext cx="1" cy="520456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9355281" y="3347406"/>
            <a:ext cx="1" cy="805494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H="1">
            <a:off x="7772400" y="5549656"/>
            <a:ext cx="990601" cy="0"/>
          </a:xfrm>
          <a:prstGeom prst="line">
            <a:avLst/>
          </a:prstGeom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7772400" y="2362200"/>
            <a:ext cx="0" cy="3187456"/>
          </a:xfrm>
          <a:prstGeom prst="line">
            <a:avLst/>
          </a:prstGeom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7772400" y="2362200"/>
            <a:ext cx="1562100" cy="0"/>
          </a:xfrm>
          <a:prstGeom prst="line">
            <a:avLst/>
          </a:prstGeom>
          <a:ln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endCxn id="5" idx="0"/>
          </p:cNvCxnSpPr>
          <p:nvPr/>
        </p:nvCxnSpPr>
        <p:spPr>
          <a:xfrm>
            <a:off x="9334500" y="2362200"/>
            <a:ext cx="0" cy="457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endCxn id="6" idx="3"/>
          </p:cNvCxnSpPr>
          <p:nvPr/>
        </p:nvCxnSpPr>
        <p:spPr>
          <a:xfrm flipH="1">
            <a:off x="10383982" y="4591050"/>
            <a:ext cx="665018" cy="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564090" y="4626326"/>
            <a:ext cx="12953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Control variables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721434" y="5894017"/>
            <a:ext cx="12953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B</a:t>
            </a:r>
          </a:p>
          <a:p>
            <a:pPr algn="ctr"/>
            <a:r>
              <a:rPr lang="en-US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Data inputs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50180"/>
                  </p:ext>
                </p:extLst>
              </p:nvPr>
            </p:nvGraphicFramePr>
            <p:xfrm>
              <a:off x="838200" y="3086100"/>
              <a:ext cx="6705600" cy="36576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514600">
                      <a:extLst>
                        <a:ext uri="{9D8B030D-6E8A-4147-A177-3AD203B41FA5}">
                          <a16:colId xmlns="" xmlns:a16="http://schemas.microsoft.com/office/drawing/2014/main" val="20000"/>
                        </a:ext>
                      </a:extLst>
                    </a:gridCol>
                    <a:gridCol w="2209800">
                      <a:extLst>
                        <a:ext uri="{9D8B030D-6E8A-4147-A177-3AD203B41FA5}">
                          <a16:colId xmlns="" xmlns:a16="http://schemas.microsoft.com/office/drawing/2014/main" val="20001"/>
                        </a:ext>
                      </a:extLst>
                    </a:gridCol>
                    <a:gridCol w="1981200">
                      <a:extLst>
                        <a:ext uri="{9D8B030D-6E8A-4147-A177-3AD203B41FA5}">
                          <a16:colId xmlns="" xmlns:a16="http://schemas.microsoft.com/office/drawing/2014/main" val="20002"/>
                        </a:ext>
                      </a:extLst>
                    </a:gridCol>
                  </a:tblGrid>
                  <a:tr h="298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Control variable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err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Microoperation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Name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0"/>
                      </a:ext>
                    </a:extLst>
                  </a:tr>
                  <a:tr h="298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A+B</a:t>
                          </a:r>
                          <a:endParaRPr lang="en-US" i="1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Add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1"/>
                      </a:ext>
                    </a:extLst>
                  </a:tr>
                  <a:tr h="298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2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0</a:t>
                          </a:r>
                          <a:endParaRPr lang="en-US" i="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Clear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2"/>
                      </a:ext>
                    </a:extLst>
                  </a:tr>
                  <a:tr h="298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3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libri" pitchFamily="34" charset="0"/>
                              <a:cs typeface="Calibri" pitchFamily="34" charset="0"/>
                            </a:rPr>
                            <a:t>’</a:t>
                          </a:r>
                          <a:endParaRPr lang="en-US" i="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libri" pitchFamily="34" charset="0"/>
                            <a:cs typeface="Calibri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Complement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3"/>
                      </a:ext>
                    </a:extLst>
                  </a:tr>
                  <a:tr h="298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4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˄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B</a:t>
                          </a:r>
                          <a:endParaRPr lang="en-US" i="1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AND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4"/>
                      </a:ext>
                    </a:extLst>
                  </a:tr>
                  <a:tr h="298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5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˅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B</a:t>
                          </a:r>
                          <a:endParaRPr lang="en-US" i="1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OR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5"/>
                      </a:ext>
                    </a:extLst>
                  </a:tr>
                  <a:tr h="298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6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solidFill>
                                    <a:schemeClr val="bg2">
                                      <a:lumMod val="10000"/>
                                    </a:schemeClr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⊕</m:t>
                              </m:r>
                            </m:oMath>
                          </a14:m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B</a:t>
                          </a:r>
                          <a:endParaRPr lang="en-US" i="1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Exclusive-OR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6"/>
                      </a:ext>
                    </a:extLst>
                  </a:tr>
                  <a:tr h="298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7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 </a:t>
                          </a:r>
                          <a:r>
                            <a:rPr lang="en-US" i="0" dirty="0" err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shr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endParaRPr lang="en-US" i="1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Shift right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7"/>
                      </a:ext>
                    </a:extLst>
                  </a:tr>
                  <a:tr h="298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8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 </a:t>
                          </a:r>
                          <a:r>
                            <a:rPr lang="en-US" i="0" dirty="0" err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shl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endParaRPr lang="en-US" i="1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Shift</a:t>
                          </a:r>
                          <a:r>
                            <a:rPr lang="en-US" baseline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left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8"/>
                      </a:ext>
                    </a:extLst>
                  </a:tr>
                  <a:tr h="298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baseline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9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A+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i="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Increment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50180"/>
                  </p:ext>
                </p:extLst>
              </p:nvPr>
            </p:nvGraphicFramePr>
            <p:xfrm>
              <a:off x="838200" y="3086100"/>
              <a:ext cx="6705600" cy="36576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514600"/>
                    <a:gridCol w="2209800"/>
                    <a:gridCol w="1981200"/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Control variable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err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Microoperation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Name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A+B</a:t>
                          </a:r>
                          <a:endParaRPr lang="en-US" i="1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Add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2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0</a:t>
                          </a:r>
                          <a:endParaRPr lang="en-US" i="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Clear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3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Calibri" pitchFamily="34" charset="0"/>
                              <a:cs typeface="Calibri" pitchFamily="34" charset="0"/>
                            </a:rPr>
                            <a:t>’</a:t>
                          </a:r>
                          <a:endParaRPr lang="en-US" i="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Calibri" pitchFamily="34" charset="0"/>
                            <a:cs typeface="Calibri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Complement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4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˄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B</a:t>
                          </a:r>
                          <a:endParaRPr lang="en-US" i="1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AND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5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˅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B</a:t>
                          </a:r>
                          <a:endParaRPr lang="en-US" i="1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OR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6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1">
                          <a:blip r:embed="rId2"/>
                          <a:stretch>
                            <a:fillRect l="-114365" t="-608333" r="-89779" b="-3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Exclusive-OR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7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 </a:t>
                          </a:r>
                          <a:r>
                            <a:rPr lang="en-US" i="0" dirty="0" err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shr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endParaRPr lang="en-US" i="1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Shift right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8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 </a:t>
                          </a:r>
                          <a:r>
                            <a:rPr lang="en-US" i="0" dirty="0" err="1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shl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endParaRPr lang="en-US" i="1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Shift</a:t>
                          </a:r>
                          <a:r>
                            <a:rPr lang="en-US" baseline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 left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/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i="1" baseline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p</a:t>
                          </a:r>
                          <a:r>
                            <a:rPr lang="en-US" i="0" baseline="-2500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9</a:t>
                          </a:r>
                          <a:endParaRPr lang="en-US" i="0" baseline="-2500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</a:t>
                          </a:r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/>
                              <a:cs typeface="Times New Roman"/>
                            </a:rPr>
                            <a:t>←</a:t>
                          </a:r>
                          <a:r>
                            <a:rPr lang="en-US" i="1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A+</a:t>
                          </a:r>
                          <a:r>
                            <a:rPr lang="en-US" i="0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1</a:t>
                          </a:r>
                          <a:endParaRPr lang="en-US" i="0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>
                              <a:solidFill>
                                <a:schemeClr val="bg2">
                                  <a:lumMod val="10000"/>
                                </a:schemeClr>
                              </a:solidFill>
                              <a:latin typeface="Times New Roman" pitchFamily="18" charset="0"/>
                              <a:cs typeface="Times New Roman" pitchFamily="18" charset="0"/>
                            </a:rPr>
                            <a:t>Increment</a:t>
                          </a:r>
                          <a:endParaRPr lang="en-US" dirty="0">
                            <a:solidFill>
                              <a:schemeClr val="bg2">
                                <a:lumMod val="10000"/>
                              </a:schemeClr>
                            </a:solidFill>
                            <a:latin typeface="Times New Roman" pitchFamily="18" charset="0"/>
                            <a:cs typeface="Times New Roman" pitchFamily="18" charset="0"/>
                          </a:endParaRP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39611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One Stage of Accumulator</a:t>
            </a:r>
            <a:endParaRPr lang="en-US" dirty="0"/>
          </a:p>
        </p:txBody>
      </p:sp>
      <p:sp>
        <p:nvSpPr>
          <p:cNvPr id="93" name="Content Placeholder 2"/>
          <p:cNvSpPr>
            <a:spLocks noGrp="1"/>
          </p:cNvSpPr>
          <p:nvPr>
            <p:ph idx="1"/>
          </p:nvPr>
        </p:nvSpPr>
        <p:spPr>
          <a:xfrm>
            <a:off x="594360" y="1765300"/>
            <a:ext cx="6136892" cy="4325112"/>
          </a:xfrm>
        </p:spPr>
        <p:txBody>
          <a:bodyPr>
            <a:normAutofit/>
          </a:bodyPr>
          <a:lstStyle/>
          <a:p>
            <a:pPr algn="just"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The register we are using here is of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JK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-type flip-flops.</a:t>
            </a:r>
          </a:p>
          <a:p>
            <a:pPr algn="just"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We must ensure that only one control variable is enabled at any </a:t>
            </a:r>
            <a:r>
              <a:rPr lang="en-US" sz="240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given time. </a:t>
            </a:r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32000" contrast="3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1252" y="67493"/>
            <a:ext cx="5130297" cy="6756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73488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Complete Accumulator</a:t>
            </a:r>
            <a:endParaRPr lang="en-US" dirty="0"/>
          </a:p>
        </p:txBody>
      </p:sp>
      <p:sp>
        <p:nvSpPr>
          <p:cNvPr id="93" name="Content Placeholder 2"/>
          <p:cNvSpPr>
            <a:spLocks noGrp="1"/>
          </p:cNvSpPr>
          <p:nvPr>
            <p:ph idx="1"/>
          </p:nvPr>
        </p:nvSpPr>
        <p:spPr>
          <a:xfrm>
            <a:off x="594360" y="1765300"/>
            <a:ext cx="4587240" cy="4325112"/>
          </a:xfrm>
        </p:spPr>
        <p:txBody>
          <a:bodyPr>
            <a:normAutofit/>
          </a:bodyPr>
          <a:lstStyle/>
          <a:p>
            <a:pPr algn="just">
              <a:spcBef>
                <a:spcPts val="1200"/>
              </a:spcBef>
            </a:pP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Finally an accumulator with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n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bits requires </a:t>
            </a:r>
            <a:r>
              <a:rPr lang="en-US" sz="2400" i="1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n</a:t>
            </a:r>
            <a:r>
              <a:rPr lang="en-US" sz="2400" dirty="0" smtClean="0">
                <a:solidFill>
                  <a:schemeClr val="bg2">
                    <a:lumMod val="10000"/>
                  </a:schemeClr>
                </a:solidFill>
                <a:latin typeface="Times New Roman" pitchFamily="18" charset="0"/>
                <a:cs typeface="Times New Roman" pitchFamily="18" charset="0"/>
              </a:rPr>
              <a:t> stages connected in cascade, with each stage having the circuit in the figure.</a:t>
            </a:r>
            <a:endParaRPr lang="en-US" sz="2400" dirty="0">
              <a:solidFill>
                <a:schemeClr val="bg2">
                  <a:lumMod val="1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32000" contrast="3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2725251"/>
            <a:ext cx="6705600" cy="4132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09555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bdullah">
  <a:themeElements>
    <a:clrScheme name="Custom 1">
      <a:dk1>
        <a:srgbClr val="5C2E14"/>
      </a:dk1>
      <a:lt1>
        <a:srgbClr val="FFFFFF"/>
      </a:lt1>
      <a:dk2>
        <a:srgbClr val="214B2B"/>
      </a:dk2>
      <a:lt2>
        <a:srgbClr val="DEDEDE"/>
      </a:lt2>
      <a:accent1>
        <a:srgbClr val="53548A"/>
      </a:accent1>
      <a:accent2>
        <a:srgbClr val="57B56D"/>
      </a:accent2>
      <a:accent3>
        <a:srgbClr val="A04DA3"/>
      </a:accent3>
      <a:accent4>
        <a:srgbClr val="C4652D"/>
      </a:accent4>
      <a:accent5>
        <a:srgbClr val="8B5D3D"/>
      </a:accent5>
      <a:accent6>
        <a:srgbClr val="5C92B5"/>
      </a:accent6>
      <a:hlink>
        <a:srgbClr val="67AFBD"/>
      </a:hlink>
      <a:folHlink>
        <a:srgbClr val="C2A874"/>
      </a:folHlink>
    </a:clrScheme>
    <a:fontScheme name="Urban">
      <a:majorFont>
        <a:latin typeface="Trebuchet MS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eorgia"/>
        <a:ea typeface=""/>
        <a:cs typeface=""/>
        <a:font script="Jpan" typeface="HG明朝B"/>
        <a:font script="Hang" typeface="맑은 고딕"/>
        <a:font script="Hans" typeface="宋体"/>
        <a:font script="Hant" typeface="新細明體"/>
        <a:font script="Arab" typeface="Arial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Urban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255000"/>
              </a:schemeClr>
            </a:gs>
            <a:gs pos="55000">
              <a:schemeClr val="phClr">
                <a:tint val="12000"/>
                <a:satMod val="255000"/>
              </a:schemeClr>
            </a:gs>
            <a:gs pos="100000">
              <a:schemeClr val="phClr">
                <a:tint val="45000"/>
                <a:satMod val="250000"/>
              </a:schemeClr>
            </a:gs>
          </a:gsLst>
          <a:path path="circle">
            <a:fillToRect l="-40000" t="-90000" r="140000" b="190000"/>
          </a:path>
        </a:gradFill>
        <a:gradFill rotWithShape="1">
          <a:gsLst>
            <a:gs pos="0">
              <a:schemeClr val="phClr">
                <a:tint val="43000"/>
                <a:satMod val="165000"/>
              </a:schemeClr>
            </a:gs>
            <a:gs pos="55000">
              <a:schemeClr val="phClr">
                <a:tint val="83000"/>
                <a:satMod val="155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-40000" t="-90000" r="140000" b="19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15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flat" dir="t">
              <a:rot lat="0" lon="0" rev="20040000"/>
            </a:lightRig>
          </a:scene3d>
          <a:sp3d contourW="12700" prstMaterial="dkEdge">
            <a:bevelT w="25400" h="38100" prst="convex"/>
            <a:contourClr>
              <a:schemeClr val="phClr">
                <a:satMod val="115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tint val="80000"/>
                <a:satMod val="250000"/>
              </a:schemeClr>
            </a:gs>
            <a:gs pos="60000">
              <a:schemeClr val="phClr">
                <a:shade val="38000"/>
                <a:satMod val="175000"/>
              </a:schemeClr>
            </a:gs>
            <a:gs pos="0">
              <a:schemeClr val="phClr">
                <a:shade val="30000"/>
                <a:satMod val="175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</a:schemeClr>
              <a:schemeClr val="phClr">
                <a:tint val="96000"/>
                <a:satMod val="150000"/>
              </a:schemeClr>
            </a:duotone>
          </a:blip>
          <a:tile tx="0" ty="0" sx="80000" sy="8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Abdullah</Template>
  <TotalTime>849</TotalTime>
  <Words>1016</Words>
  <Application>Microsoft Office PowerPoint</Application>
  <PresentationFormat>Custom</PresentationFormat>
  <Paragraphs>216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Abdullah</vt:lpstr>
      <vt:lpstr>Digital Systems Design</vt:lpstr>
      <vt:lpstr>Introduction</vt:lpstr>
      <vt:lpstr>Processor Organization</vt:lpstr>
      <vt:lpstr>Bus Organization</vt:lpstr>
      <vt:lpstr>Scratchpad Memory </vt:lpstr>
      <vt:lpstr>2-Port Memory</vt:lpstr>
      <vt:lpstr>Accumulator Register</vt:lpstr>
      <vt:lpstr>Arithmetic Logic Unit</vt:lpstr>
      <vt:lpstr>Design of Arithmetic Circuit</vt:lpstr>
      <vt:lpstr>Design of Arithmetic Circuit</vt:lpstr>
      <vt:lpstr>Design of Logic Circuit</vt:lpstr>
      <vt:lpstr>Design of Arithmetic  Logic Unit</vt:lpstr>
      <vt:lpstr>Status Register</vt:lpstr>
      <vt:lpstr>Design of Shifter</vt:lpstr>
      <vt:lpstr>Processor Unit</vt:lpstr>
      <vt:lpstr>Design of Accumulator</vt:lpstr>
      <vt:lpstr>One Stage of Accumulator</vt:lpstr>
      <vt:lpstr>Complete Accumulator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Systems Design</dc:title>
  <dc:creator>Abdullah</dc:creator>
  <cp:lastModifiedBy>Muhammad</cp:lastModifiedBy>
  <cp:revision>94</cp:revision>
  <dcterms:created xsi:type="dcterms:W3CDTF">2006-08-16T00:00:00Z</dcterms:created>
  <dcterms:modified xsi:type="dcterms:W3CDTF">2023-05-29T08:40:26Z</dcterms:modified>
</cp:coreProperties>
</file>