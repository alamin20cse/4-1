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67" r:id="rId6"/>
    <p:sldId id="268" r:id="rId7"/>
    <p:sldId id="269" r:id="rId8"/>
    <p:sldId id="270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81" autoAdjust="0"/>
    <p:restoredTop sz="94622" autoAdjust="0"/>
  </p:normalViewPr>
  <p:slideViewPr>
    <p:cSldViewPr>
      <p:cViewPr varScale="1">
        <p:scale>
          <a:sx n="65" d="100"/>
          <a:sy n="65" d="100"/>
        </p:scale>
        <p:origin x="111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77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496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50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79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31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16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6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774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5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25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849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7799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52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37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116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674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092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Web Engineering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Lecture-01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47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Web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/>
              <a:t>Definition:</a:t>
            </a:r>
            <a:endParaRPr lang="en-US" sz="2800" dirty="0" smtClean="0"/>
          </a:p>
          <a:p>
            <a:pPr lvl="1"/>
            <a:r>
              <a:rPr lang="en-US" sz="2400" dirty="0" smtClean="0"/>
              <a:t>Web </a:t>
            </a:r>
            <a:r>
              <a:rPr lang="en-US" sz="2400" dirty="0"/>
              <a:t>Engineering is the systematic, disciplined, and quantifiable approach to the development, operation, and maintenance of web-based applications.</a:t>
            </a:r>
          </a:p>
          <a:p>
            <a:r>
              <a:rPr lang="en-US" sz="2800" b="1" dirty="0" smtClean="0"/>
              <a:t>Goal</a:t>
            </a:r>
          </a:p>
          <a:p>
            <a:pPr lvl="1"/>
            <a:r>
              <a:rPr lang="en-US" sz="2400" dirty="0" smtClean="0"/>
              <a:t>To </a:t>
            </a:r>
            <a:r>
              <a:rPr lang="en-US" sz="2400" dirty="0"/>
              <a:t>address complexity, quality, scalability, and rapid development of web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304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Web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lnSpcReduction="10000"/>
          </a:bodyPr>
          <a:lstStyle/>
          <a:p>
            <a:r>
              <a:rPr lang="en-US" sz="2800" b="1" dirty="0" smtClean="0"/>
              <a:t>Increasing </a:t>
            </a:r>
            <a:r>
              <a:rPr lang="en-US" sz="2800" b="1" dirty="0"/>
              <a:t>Complexity of Web Applications</a:t>
            </a:r>
          </a:p>
          <a:p>
            <a:pPr lvl="1"/>
            <a:r>
              <a:rPr lang="en-US" sz="2400" dirty="0"/>
              <a:t>Modern web apps are not just simple pages; they involve complex logic, databases, multimedia, and user interactions.</a:t>
            </a:r>
          </a:p>
          <a:p>
            <a:pPr lvl="1"/>
            <a:r>
              <a:rPr lang="en-US" sz="2400" dirty="0"/>
              <a:t>Without a structured approach, projects become difficult to manage and prone to errors.</a:t>
            </a:r>
          </a:p>
          <a:p>
            <a:r>
              <a:rPr lang="en-US" sz="2800" b="1" dirty="0" smtClean="0"/>
              <a:t>User-Centric </a:t>
            </a:r>
            <a:r>
              <a:rPr lang="en-US" sz="2800" b="1" dirty="0"/>
              <a:t>and Dynamic Content</a:t>
            </a:r>
          </a:p>
          <a:p>
            <a:pPr lvl="1"/>
            <a:r>
              <a:rPr lang="en-US" sz="2400" dirty="0"/>
              <a:t>Users expect personalized, interactive, and responsive experiences.</a:t>
            </a:r>
          </a:p>
          <a:p>
            <a:pPr lvl="1"/>
            <a:r>
              <a:rPr lang="en-US" sz="2400" dirty="0"/>
              <a:t>Web engineering helps design systems that handle dynamic content and adapt to user needs efficiently.</a:t>
            </a:r>
          </a:p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13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Web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lnSpcReduction="10000"/>
          </a:bodyPr>
          <a:lstStyle/>
          <a:p>
            <a:r>
              <a:rPr lang="en-US" sz="2800" b="1" dirty="0" smtClean="0"/>
              <a:t>Integration </a:t>
            </a:r>
            <a:r>
              <a:rPr lang="en-US" sz="2800" b="1" dirty="0"/>
              <a:t>with Multiple Systems</a:t>
            </a:r>
          </a:p>
          <a:p>
            <a:pPr lvl="1"/>
            <a:r>
              <a:rPr lang="en-US" sz="2400" dirty="0"/>
              <a:t>Web apps often integrate with databases, third-party APIs, cloud services, and legacy systems.</a:t>
            </a:r>
          </a:p>
          <a:p>
            <a:pPr lvl="1"/>
            <a:r>
              <a:rPr lang="en-US" sz="2400" dirty="0"/>
              <a:t>Coordinating these requires systematic engineering methods to ensure smooth interoperability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>
                <a:solidFill>
                  <a:srgbClr val="00B0F0"/>
                </a:solidFill>
              </a:rPr>
              <a:t>Coordination among these components needs </a:t>
            </a:r>
            <a:r>
              <a:rPr lang="en-US" sz="2400" b="1" dirty="0">
                <a:solidFill>
                  <a:srgbClr val="00B0F0"/>
                </a:solidFill>
              </a:rPr>
              <a:t>systematic engineering practices</a:t>
            </a:r>
            <a:r>
              <a:rPr lang="en-US" sz="2400" dirty="0">
                <a:solidFill>
                  <a:srgbClr val="00B0F0"/>
                </a:solidFill>
              </a:rPr>
              <a:t> for smooth operation.</a:t>
            </a:r>
            <a:endParaRPr lang="en-US" sz="2400" dirty="0">
              <a:solidFill>
                <a:srgbClr val="00B0F0"/>
              </a:solidFill>
            </a:endParaRPr>
          </a:p>
          <a:p>
            <a:r>
              <a:rPr lang="en-US" sz="2800" b="1" dirty="0" smtClean="0"/>
              <a:t>Rapid </a:t>
            </a:r>
            <a:r>
              <a:rPr lang="en-US" sz="2800" b="1" dirty="0"/>
              <a:t>Development and Deployment Cycles</a:t>
            </a:r>
          </a:p>
          <a:p>
            <a:pPr lvl="1"/>
            <a:r>
              <a:rPr lang="en-US" sz="2400" dirty="0"/>
              <a:t>Businesses want fast time-to-market with frequent updates.</a:t>
            </a:r>
          </a:p>
          <a:p>
            <a:pPr lvl="1"/>
            <a:r>
              <a:rPr lang="en-US" sz="2400" dirty="0"/>
              <a:t>Web engineering applies methodologies (like Agile) to manage quick development without sacrificing quality.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8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Web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r>
              <a:rPr lang="en-US" sz="2800" b="1" dirty="0"/>
              <a:t>Quality and Maintainability</a:t>
            </a:r>
          </a:p>
          <a:p>
            <a:pPr lvl="1"/>
            <a:r>
              <a:rPr lang="en-US" sz="2400" dirty="0"/>
              <a:t>Without proper engineering, maintaining code, fixing bugs, and upgrading features can become </a:t>
            </a:r>
            <a:r>
              <a:rPr lang="en-US" sz="1050" dirty="0" smtClean="0"/>
              <a:t>overwhelming</a:t>
            </a:r>
            <a:r>
              <a:rPr lang="en-US" sz="2400" dirty="0" smtClean="0"/>
              <a:t>/</a:t>
            </a:r>
            <a:r>
              <a:rPr lang="en-US" sz="2400" dirty="0" err="1" smtClean="0"/>
              <a:t>dificult</a:t>
            </a:r>
            <a:r>
              <a:rPr lang="en-US" sz="2400" dirty="0" smtClean="0"/>
              <a:t>.</a:t>
            </a:r>
            <a:endParaRPr lang="en-US" sz="2400" dirty="0"/>
          </a:p>
          <a:p>
            <a:pPr lvl="1"/>
            <a:r>
              <a:rPr lang="en-US" sz="2400" dirty="0"/>
              <a:t>Structured design, testing, and documentation improve software quality and long-term maintainability.</a:t>
            </a:r>
          </a:p>
          <a:p>
            <a:r>
              <a:rPr lang="en-US" sz="2800" b="1" dirty="0" smtClean="0"/>
              <a:t>Security </a:t>
            </a:r>
            <a:r>
              <a:rPr lang="en-US" sz="2800" b="1" dirty="0"/>
              <a:t>Concerns</a:t>
            </a:r>
          </a:p>
          <a:p>
            <a:pPr lvl="1"/>
            <a:r>
              <a:rPr lang="en-US" sz="2400" dirty="0"/>
              <a:t>Web apps face constant threats: hacking, data breaches, and vulnerabilities.</a:t>
            </a:r>
          </a:p>
          <a:p>
            <a:pPr lvl="1"/>
            <a:r>
              <a:rPr lang="en-US" sz="2400" dirty="0"/>
              <a:t>Web engineering incorporates security best practices from the ground up.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82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Web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r>
              <a:rPr lang="en-US" sz="2800" b="1" dirty="0"/>
              <a:t>Cross-Platform and Cross-Browser Compatibility</a:t>
            </a:r>
          </a:p>
          <a:p>
            <a:pPr lvl="1"/>
            <a:r>
              <a:rPr lang="en-US" sz="2400" dirty="0"/>
              <a:t>Web applications must work seamlessly across different devices and browsers.</a:t>
            </a:r>
          </a:p>
          <a:p>
            <a:pPr lvl="1"/>
            <a:r>
              <a:rPr lang="en-US" sz="2400" dirty="0"/>
              <a:t>Engineering practices ensure compatibility and consistent user experience.</a:t>
            </a:r>
          </a:p>
          <a:p>
            <a:r>
              <a:rPr lang="en-US" sz="2800" b="1" dirty="0" smtClean="0"/>
              <a:t>Scalability </a:t>
            </a:r>
            <a:r>
              <a:rPr lang="en-US" sz="2800" b="1" dirty="0"/>
              <a:t>and Performance</a:t>
            </a:r>
          </a:p>
          <a:p>
            <a:pPr lvl="1"/>
            <a:r>
              <a:rPr lang="en-US" sz="2400" dirty="0"/>
              <a:t>As user base grows, web apps need to handle more traffic and data.</a:t>
            </a:r>
          </a:p>
          <a:p>
            <a:pPr lvl="1"/>
            <a:r>
              <a:rPr lang="en-US" sz="2400" dirty="0"/>
              <a:t>Engineering helps design scalable architectures and optimize performance.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2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484710" y="152400"/>
            <a:ext cx="7055380" cy="30031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685801"/>
            <a:ext cx="6711654" cy="556260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Cross-Platform and Cross-Browser </a:t>
            </a:r>
            <a:r>
              <a:rPr lang="en-US" b="1" dirty="0" smtClean="0">
                <a:solidFill>
                  <a:srgbClr val="FF0000"/>
                </a:solidFill>
              </a:rPr>
              <a:t>Compatibility</a:t>
            </a:r>
            <a:endParaRPr lang="en-US" b="1" dirty="0"/>
          </a:p>
          <a:p>
            <a:r>
              <a:rPr lang="en-US" dirty="0"/>
              <a:t>A web app should work properly on </a:t>
            </a:r>
            <a:r>
              <a:rPr lang="en-US" b="1" dirty="0"/>
              <a:t>all types of devices</a:t>
            </a:r>
            <a:r>
              <a:rPr lang="en-US" dirty="0"/>
              <a:t> (like computers, tablets, phones).</a:t>
            </a:r>
          </a:p>
          <a:p>
            <a:r>
              <a:rPr lang="en-US" dirty="0"/>
              <a:t>It should also work well in </a:t>
            </a:r>
            <a:r>
              <a:rPr lang="en-US" b="1" dirty="0"/>
              <a:t>different browsers</a:t>
            </a:r>
            <a:r>
              <a:rPr lang="en-US" dirty="0"/>
              <a:t> (like Chrome, Firefox, Safari, Edge).</a:t>
            </a:r>
          </a:p>
          <a:p>
            <a:r>
              <a:rPr lang="en-US" dirty="0"/>
              <a:t>This is called </a:t>
            </a:r>
            <a:r>
              <a:rPr lang="en-US" b="1" dirty="0"/>
              <a:t>cross-platform</a:t>
            </a:r>
            <a:r>
              <a:rPr lang="en-US" dirty="0"/>
              <a:t> (different devices) and </a:t>
            </a:r>
            <a:r>
              <a:rPr lang="en-US" b="1" dirty="0"/>
              <a:t>cross-browser</a:t>
            </a:r>
            <a:r>
              <a:rPr lang="en-US" dirty="0"/>
              <a:t> (different browsers) compatibility.</a:t>
            </a:r>
          </a:p>
          <a:p>
            <a:r>
              <a:rPr lang="en-US" dirty="0"/>
              <a:t>Web engineering ensures that the app looks and works the </a:t>
            </a:r>
            <a:r>
              <a:rPr lang="en-US" b="1" dirty="0"/>
              <a:t>same everywhere</a:t>
            </a:r>
            <a:r>
              <a:rPr lang="en-US" dirty="0" smtClean="0"/>
              <a:t>.</a:t>
            </a:r>
          </a:p>
          <a:p>
            <a:r>
              <a:rPr lang="en-US" b="1" dirty="0">
                <a:solidFill>
                  <a:srgbClr val="FF0000"/>
                </a:solidFill>
              </a:rPr>
              <a:t>Scalability and </a:t>
            </a:r>
            <a:r>
              <a:rPr lang="en-US" b="1" dirty="0" smtClean="0">
                <a:solidFill>
                  <a:srgbClr val="FF0000"/>
                </a:solidFill>
              </a:rPr>
              <a:t>Performance</a:t>
            </a:r>
            <a:endParaRPr lang="en-US" b="1" dirty="0"/>
          </a:p>
          <a:p>
            <a:r>
              <a:rPr lang="en-US" dirty="0"/>
              <a:t>When more people start using a web app, it must handle </a:t>
            </a:r>
            <a:r>
              <a:rPr lang="en-US" b="1" dirty="0"/>
              <a:t>more users and more data</a:t>
            </a:r>
            <a:r>
              <a:rPr lang="en-US" dirty="0"/>
              <a:t>.</a:t>
            </a:r>
          </a:p>
          <a:p>
            <a:r>
              <a:rPr lang="en-US" dirty="0"/>
              <a:t>This is called </a:t>
            </a:r>
            <a:r>
              <a:rPr lang="en-US" b="1" dirty="0"/>
              <a:t>scalability</a:t>
            </a:r>
            <a:r>
              <a:rPr lang="en-US" dirty="0"/>
              <a:t> – the ability to grow without problems.</a:t>
            </a:r>
          </a:p>
          <a:p>
            <a:r>
              <a:rPr lang="en-US" b="1" dirty="0"/>
              <a:t>Performance</a:t>
            </a:r>
            <a:r>
              <a:rPr lang="en-US" dirty="0"/>
              <a:t> means the app should stay </a:t>
            </a:r>
            <a:r>
              <a:rPr lang="en-US" b="1" dirty="0"/>
              <a:t>fast and smooth</a:t>
            </a:r>
            <a:r>
              <a:rPr lang="en-US" dirty="0"/>
              <a:t>, even with many users.</a:t>
            </a:r>
          </a:p>
          <a:p>
            <a:r>
              <a:rPr lang="en-US" dirty="0"/>
              <a:t>Web engineering helps design systems that can </a:t>
            </a:r>
            <a:r>
              <a:rPr lang="en-US" b="1" dirty="0"/>
              <a:t>scale up</a:t>
            </a:r>
            <a:r>
              <a:rPr lang="en-US" dirty="0"/>
              <a:t> and run </a:t>
            </a:r>
            <a:r>
              <a:rPr lang="en-US" b="1" dirty="0"/>
              <a:t>efficiently</a:t>
            </a:r>
            <a:r>
              <a:rPr lang="en-US" dirty="0" smtClean="0"/>
              <a:t>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232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in Web </a:t>
            </a:r>
            <a:r>
              <a:rPr lang="en-US" dirty="0" smtClean="0"/>
              <a:t>Application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Diverse Technology Stack</a:t>
            </a:r>
          </a:p>
          <a:p>
            <a:pPr lvl="1"/>
            <a:r>
              <a:rPr lang="en-US" dirty="0"/>
              <a:t>Must handle </a:t>
            </a:r>
            <a:r>
              <a:rPr lang="en-US" b="1" dirty="0"/>
              <a:t>HTML/CSS/JavaScript</a:t>
            </a:r>
            <a:r>
              <a:rPr lang="en-US" dirty="0"/>
              <a:t>, frameworks (React, Angular), backend (Node.js, </a:t>
            </a:r>
            <a:r>
              <a:rPr lang="en-US" dirty="0" err="1"/>
              <a:t>Django</a:t>
            </a:r>
            <a:r>
              <a:rPr lang="en-US" dirty="0"/>
              <a:t>), APIs, databases, and more.</a:t>
            </a:r>
          </a:p>
          <a:p>
            <a:r>
              <a:rPr lang="en-US" b="1" dirty="0" smtClean="0"/>
              <a:t>Rapid </a:t>
            </a:r>
            <a:r>
              <a:rPr lang="en-US" b="1" dirty="0"/>
              <a:t>Technological Evolution</a:t>
            </a:r>
          </a:p>
          <a:p>
            <a:pPr lvl="1"/>
            <a:r>
              <a:rPr lang="en-US" dirty="0"/>
              <a:t>New frameworks, standards, and tools are introduced constantly.</a:t>
            </a:r>
          </a:p>
          <a:p>
            <a:pPr lvl="1"/>
            <a:r>
              <a:rPr lang="en-US" dirty="0"/>
              <a:t>Requires continuous </a:t>
            </a:r>
            <a:r>
              <a:rPr lang="en-US" b="1" dirty="0"/>
              <a:t>learning and adaptation</a:t>
            </a:r>
            <a:r>
              <a:rPr lang="en-US" dirty="0"/>
              <a:t>.</a:t>
            </a:r>
          </a:p>
          <a:p>
            <a:r>
              <a:rPr lang="en-US" b="1" dirty="0" smtClean="0"/>
              <a:t>Cross-Platform </a:t>
            </a:r>
            <a:r>
              <a:rPr lang="en-US" b="1" dirty="0"/>
              <a:t>and Cross-Browser Compatibility</a:t>
            </a:r>
          </a:p>
          <a:p>
            <a:pPr lvl="1"/>
            <a:r>
              <a:rPr lang="en-US" dirty="0"/>
              <a:t>Ensuring consistent behavior across devices, browsers, and screen sizes can be complex.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44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in Web </a:t>
            </a:r>
            <a:r>
              <a:rPr lang="en-US" dirty="0" smtClean="0"/>
              <a:t>Application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Integration Complexity</a:t>
            </a:r>
          </a:p>
          <a:p>
            <a:pPr lvl="1"/>
            <a:r>
              <a:rPr lang="en-US" dirty="0"/>
              <a:t>Must interact with third-party APIs, legacy systems, cloud services, and microservices.</a:t>
            </a:r>
          </a:p>
          <a:p>
            <a:r>
              <a:rPr lang="en-US" b="1" dirty="0"/>
              <a:t>Fast Development Cycles</a:t>
            </a:r>
          </a:p>
          <a:p>
            <a:pPr lvl="1"/>
            <a:r>
              <a:rPr lang="en-US" dirty="0"/>
              <a:t>Agile environments demand </a:t>
            </a:r>
            <a:r>
              <a:rPr lang="en-US" b="1" dirty="0"/>
              <a:t>frequent updates</a:t>
            </a:r>
            <a:r>
              <a:rPr lang="en-US" dirty="0"/>
              <a:t>, </a:t>
            </a:r>
            <a:r>
              <a:rPr lang="en-US" b="1" dirty="0"/>
              <a:t>continuous integration</a:t>
            </a:r>
            <a:r>
              <a:rPr lang="en-US" dirty="0"/>
              <a:t>, and </a:t>
            </a:r>
            <a:r>
              <a:rPr lang="en-US" b="1" dirty="0"/>
              <a:t>deployment</a:t>
            </a:r>
            <a:r>
              <a:rPr lang="en-US" dirty="0"/>
              <a:t> without compromising quality.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59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Web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Structured Development Process</a:t>
            </a:r>
          </a:p>
          <a:p>
            <a:pPr lvl="1"/>
            <a:r>
              <a:rPr lang="en-US" dirty="0"/>
              <a:t>Promotes </a:t>
            </a:r>
            <a:r>
              <a:rPr lang="en-US" b="1" dirty="0"/>
              <a:t>modular</a:t>
            </a:r>
            <a:r>
              <a:rPr lang="en-US" dirty="0"/>
              <a:t>, </a:t>
            </a:r>
            <a:r>
              <a:rPr lang="en-US" b="1" dirty="0"/>
              <a:t>scalable</a:t>
            </a:r>
            <a:r>
              <a:rPr lang="en-US" dirty="0"/>
              <a:t>, and </a:t>
            </a:r>
            <a:r>
              <a:rPr lang="en-US" b="1" dirty="0"/>
              <a:t>reusable</a:t>
            </a:r>
            <a:r>
              <a:rPr lang="en-US" dirty="0"/>
              <a:t> code.</a:t>
            </a:r>
          </a:p>
          <a:p>
            <a:pPr lvl="1"/>
            <a:r>
              <a:rPr lang="en-US" dirty="0"/>
              <a:t>Follows defined </a:t>
            </a:r>
            <a:r>
              <a:rPr lang="en-US" b="1" dirty="0"/>
              <a:t>development methodologies</a:t>
            </a:r>
            <a:r>
              <a:rPr lang="en-US" dirty="0"/>
              <a:t> (Agile, Waterfall, etc.).</a:t>
            </a:r>
          </a:p>
          <a:p>
            <a:r>
              <a:rPr lang="en-US" b="1" dirty="0" smtClean="0"/>
              <a:t>Improved </a:t>
            </a:r>
            <a:r>
              <a:rPr lang="en-US" b="1" dirty="0"/>
              <a:t>Collaboration</a:t>
            </a:r>
          </a:p>
          <a:p>
            <a:pPr lvl="1"/>
            <a:r>
              <a:rPr lang="en-US" dirty="0"/>
              <a:t>Bridges the gap between </a:t>
            </a:r>
            <a:r>
              <a:rPr lang="en-US" b="1" dirty="0"/>
              <a:t>designers</a:t>
            </a:r>
            <a:r>
              <a:rPr lang="en-US" dirty="0"/>
              <a:t>, </a:t>
            </a:r>
            <a:r>
              <a:rPr lang="en-US" b="1" dirty="0"/>
              <a:t>developers</a:t>
            </a:r>
            <a:r>
              <a:rPr lang="en-US" dirty="0"/>
              <a:t>, and </a:t>
            </a:r>
            <a:r>
              <a:rPr lang="en-US" b="1" dirty="0"/>
              <a:t>stakeholders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Encourages better </a:t>
            </a:r>
            <a:r>
              <a:rPr lang="en-US" b="1" dirty="0"/>
              <a:t>communication</a:t>
            </a:r>
            <a:r>
              <a:rPr lang="en-US" dirty="0"/>
              <a:t> through documentation and standards.</a:t>
            </a:r>
          </a:p>
          <a:p>
            <a:r>
              <a:rPr lang="en-US" b="1" dirty="0" smtClean="0"/>
              <a:t>Quality </a:t>
            </a:r>
            <a:r>
              <a:rPr lang="en-US" b="1" dirty="0"/>
              <a:t>Assurance</a:t>
            </a:r>
          </a:p>
          <a:p>
            <a:pPr lvl="1"/>
            <a:r>
              <a:rPr lang="en-US" dirty="0"/>
              <a:t>Emphasizes </a:t>
            </a:r>
            <a:r>
              <a:rPr lang="en-US" b="1" dirty="0"/>
              <a:t>testing</a:t>
            </a:r>
            <a:r>
              <a:rPr lang="en-US" dirty="0"/>
              <a:t>, </a:t>
            </a:r>
            <a:r>
              <a:rPr lang="en-US" b="1" dirty="0"/>
              <a:t>validation</a:t>
            </a:r>
            <a:r>
              <a:rPr lang="en-US" dirty="0"/>
              <a:t>, and </a:t>
            </a:r>
            <a:r>
              <a:rPr lang="en-US" b="1" dirty="0"/>
              <a:t>performance optimization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Reduces bugs and improves reliability.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69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Web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Enhanced </a:t>
            </a:r>
            <a:r>
              <a:rPr lang="en-US" b="1" dirty="0"/>
              <a:t>Security</a:t>
            </a:r>
          </a:p>
          <a:p>
            <a:pPr lvl="1"/>
            <a:r>
              <a:rPr lang="en-US" dirty="0"/>
              <a:t>Includes practices like input validation, authentication, authorization, and encryption.</a:t>
            </a:r>
          </a:p>
          <a:p>
            <a:r>
              <a:rPr lang="en-US" b="1" dirty="0" smtClean="0"/>
              <a:t>Maintainability </a:t>
            </a:r>
            <a:r>
              <a:rPr lang="en-US" b="1" dirty="0"/>
              <a:t>&amp; Scalability</a:t>
            </a:r>
          </a:p>
          <a:p>
            <a:pPr lvl="1"/>
            <a:r>
              <a:rPr lang="en-US" dirty="0"/>
              <a:t>Easier to update, debug, and scale applications over time.</a:t>
            </a:r>
          </a:p>
          <a:p>
            <a:pPr lvl="1"/>
            <a:r>
              <a:rPr lang="en-US" dirty="0"/>
              <a:t>Use of design patterns and frameworks improves adaptability.</a:t>
            </a:r>
          </a:p>
          <a:p>
            <a:r>
              <a:rPr lang="en-US" b="1" dirty="0" smtClean="0"/>
              <a:t>Better </a:t>
            </a:r>
            <a:r>
              <a:rPr lang="en-US" b="1" dirty="0"/>
              <a:t>User Experience (UX)</a:t>
            </a:r>
          </a:p>
          <a:p>
            <a:pPr lvl="1"/>
            <a:r>
              <a:rPr lang="en-US" dirty="0"/>
              <a:t>Incorporates UI/UX principles, accessibility standards, and responsive design.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198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Classification of Web </a:t>
            </a:r>
            <a:r>
              <a:rPr lang="en-US" dirty="0" smtClean="0"/>
              <a:t>Applications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Static Web Applications</a:t>
            </a:r>
          </a:p>
          <a:p>
            <a:pPr lvl="1"/>
            <a:r>
              <a:rPr lang="en-US" dirty="0"/>
              <a:t>Deliver fixed content to the user.</a:t>
            </a:r>
          </a:p>
          <a:p>
            <a:pPr lvl="1"/>
            <a:r>
              <a:rPr lang="en-US" dirty="0" smtClean="0"/>
              <a:t>Simple </a:t>
            </a:r>
            <a:r>
              <a:rPr lang="en-US" dirty="0"/>
              <a:t>HTML pages with no or minimal interactivity.</a:t>
            </a:r>
          </a:p>
          <a:p>
            <a:pPr lvl="1"/>
            <a:r>
              <a:rPr lang="en-US" dirty="0"/>
              <a:t>Example: Company brochure sites, informational pages.</a:t>
            </a:r>
          </a:p>
          <a:p>
            <a:r>
              <a:rPr lang="en-US" b="1" dirty="0"/>
              <a:t>2. Dynamic Web Applications</a:t>
            </a:r>
          </a:p>
          <a:p>
            <a:pPr lvl="1"/>
            <a:r>
              <a:rPr lang="en-US" dirty="0"/>
              <a:t>Content is generated in real-time based on user interaction or data.</a:t>
            </a:r>
          </a:p>
          <a:p>
            <a:pPr lvl="1"/>
            <a:r>
              <a:rPr lang="en-US" dirty="0"/>
              <a:t>Uses server-side scripting (e.g., PHP, ASP.NET, Node.js).</a:t>
            </a:r>
          </a:p>
          <a:p>
            <a:pPr lvl="1"/>
            <a:r>
              <a:rPr lang="en-US" dirty="0"/>
              <a:t>Example: News portals, blogs.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1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Classification of Web </a:t>
            </a:r>
            <a:r>
              <a:rPr lang="en-US" dirty="0" smtClean="0"/>
              <a:t>Applications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E-commerce Web Applications</a:t>
            </a:r>
          </a:p>
          <a:p>
            <a:pPr lvl="1"/>
            <a:r>
              <a:rPr lang="en-US" dirty="0"/>
              <a:t>Facilitate online buying and selling of goods and services.</a:t>
            </a:r>
          </a:p>
          <a:p>
            <a:pPr lvl="1"/>
            <a:r>
              <a:rPr lang="en-US" dirty="0"/>
              <a:t>Support payment processing, product catalogs, shopping carts.</a:t>
            </a:r>
          </a:p>
          <a:p>
            <a:pPr lvl="1"/>
            <a:r>
              <a:rPr lang="en-US" dirty="0"/>
              <a:t>Example: Amazon, eBay.</a:t>
            </a:r>
          </a:p>
          <a:p>
            <a:r>
              <a:rPr lang="en-US" b="1" dirty="0" smtClean="0"/>
              <a:t>Portal </a:t>
            </a:r>
            <a:r>
              <a:rPr lang="en-US" b="1" dirty="0"/>
              <a:t>Web Applications</a:t>
            </a:r>
          </a:p>
          <a:p>
            <a:pPr lvl="1"/>
            <a:r>
              <a:rPr lang="en-US" dirty="0"/>
              <a:t>Provide a single point of access to a variety of information and services.</a:t>
            </a:r>
          </a:p>
          <a:p>
            <a:pPr lvl="1"/>
            <a:r>
              <a:rPr lang="en-US" dirty="0"/>
              <a:t>Often integrate multiple systems and databases.</a:t>
            </a:r>
          </a:p>
          <a:p>
            <a:pPr lvl="1"/>
            <a:r>
              <a:rPr lang="en-US" dirty="0"/>
              <a:t>Example: Yahoo!, MSN, government portals</a:t>
            </a:r>
            <a:r>
              <a:rPr lang="en-US" dirty="0" smtClean="0"/>
              <a:t>.</a:t>
            </a:r>
          </a:p>
          <a:p>
            <a:pPr lvl="0"/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access to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services</a:t>
            </a: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one place.</a:t>
            </a:r>
          </a:p>
          <a:p>
            <a:pPr lvl="0"/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 integrates databases and external </a:t>
            </a:r>
            <a:r>
              <a:rPr lang="en-US" sz="2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en-US" sz="26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  <a:p>
            <a:r>
              <a:rPr lang="en-US" b="1" dirty="0" smtClean="0"/>
              <a:t>Content </a:t>
            </a:r>
            <a:r>
              <a:rPr lang="en-US" b="1" dirty="0"/>
              <a:t>Management Systems (CMS)</a:t>
            </a:r>
          </a:p>
          <a:p>
            <a:pPr lvl="1"/>
            <a:r>
              <a:rPr lang="en-US" dirty="0"/>
              <a:t>Allow users to create, edit, and manage website content without technical knowledge.</a:t>
            </a:r>
          </a:p>
          <a:p>
            <a:pPr lvl="1"/>
            <a:r>
              <a:rPr lang="en-US" dirty="0"/>
              <a:t>Example: </a:t>
            </a:r>
            <a:r>
              <a:rPr lang="en-US" dirty="0" err="1"/>
              <a:t>WordPress</a:t>
            </a:r>
            <a:r>
              <a:rPr lang="en-US" dirty="0"/>
              <a:t>, </a:t>
            </a:r>
            <a:r>
              <a:rPr lang="en-US" dirty="0" err="1"/>
              <a:t>Joomla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19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Classification of Web </a:t>
            </a:r>
            <a:r>
              <a:rPr lang="en-US" dirty="0" smtClean="0"/>
              <a:t>Applications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Collaborative Web Applications</a:t>
            </a:r>
          </a:p>
          <a:p>
            <a:pPr lvl="1"/>
            <a:r>
              <a:rPr lang="en-US" dirty="0"/>
              <a:t>Enable multiple users to collaborate and share resources.</a:t>
            </a:r>
          </a:p>
          <a:p>
            <a:pPr lvl="1"/>
            <a:r>
              <a:rPr lang="en-US" dirty="0"/>
              <a:t>Examples: Google Docs, </a:t>
            </a:r>
            <a:r>
              <a:rPr lang="en-US" dirty="0" err="1"/>
              <a:t>Trello</a:t>
            </a:r>
            <a:r>
              <a:rPr lang="en-US" dirty="0"/>
              <a:t>.</a:t>
            </a:r>
          </a:p>
          <a:p>
            <a:r>
              <a:rPr lang="en-US" b="1" dirty="0" smtClean="0"/>
              <a:t>Social </a:t>
            </a:r>
            <a:r>
              <a:rPr lang="en-US" b="1" dirty="0"/>
              <a:t>Networking Applications</a:t>
            </a:r>
          </a:p>
          <a:p>
            <a:pPr lvl="1"/>
            <a:r>
              <a:rPr lang="en-US" dirty="0"/>
              <a:t>Facilitate social interactions and community building.</a:t>
            </a:r>
          </a:p>
          <a:p>
            <a:pPr lvl="1"/>
            <a:r>
              <a:rPr lang="en-US" dirty="0"/>
              <a:t>Features include profiles, messaging, content sharing.</a:t>
            </a:r>
          </a:p>
          <a:p>
            <a:pPr lvl="1"/>
            <a:r>
              <a:rPr lang="en-US" dirty="0"/>
              <a:t>Example: Facebook, Twitter, LinkedIn.</a:t>
            </a:r>
          </a:p>
          <a:p>
            <a:r>
              <a:rPr lang="en-US" b="1" dirty="0" smtClean="0"/>
              <a:t>Web-based </a:t>
            </a:r>
            <a:r>
              <a:rPr lang="en-US" b="1" dirty="0"/>
              <a:t>Software Applications (</a:t>
            </a:r>
            <a:r>
              <a:rPr lang="en-US" b="1" dirty="0" err="1"/>
              <a:t>SaaS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Provide software functionality accessible over the web.</a:t>
            </a:r>
          </a:p>
          <a:p>
            <a:pPr lvl="1"/>
            <a:r>
              <a:rPr lang="en-US" dirty="0"/>
              <a:t>Replace traditional desktop applications.</a:t>
            </a:r>
          </a:p>
          <a:p>
            <a:pPr lvl="1"/>
            <a:r>
              <a:rPr lang="en-US" dirty="0"/>
              <a:t>Example: Google Workspace, </a:t>
            </a:r>
            <a:r>
              <a:rPr lang="en-US" dirty="0" err="1"/>
              <a:t>Salesforce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80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Classification of Web </a:t>
            </a:r>
            <a:r>
              <a:rPr lang="en-US" dirty="0" smtClean="0"/>
              <a:t>Applications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Educational Web Applications</a:t>
            </a:r>
          </a:p>
          <a:p>
            <a:pPr lvl="1"/>
            <a:r>
              <a:rPr lang="en-US" dirty="0"/>
              <a:t>Support learning and training activities.</a:t>
            </a:r>
          </a:p>
          <a:p>
            <a:pPr lvl="1"/>
            <a:r>
              <a:rPr lang="en-US" dirty="0"/>
              <a:t>Include e-learning platforms, quizzes, interactive tutorials.</a:t>
            </a:r>
          </a:p>
          <a:p>
            <a:pPr lvl="1"/>
            <a:r>
              <a:rPr lang="en-US" dirty="0"/>
              <a:t>Example: </a:t>
            </a:r>
            <a:r>
              <a:rPr lang="en-US" dirty="0" err="1"/>
              <a:t>Coursera</a:t>
            </a:r>
            <a:r>
              <a:rPr lang="en-US" dirty="0"/>
              <a:t>, Khan Academy.</a:t>
            </a:r>
          </a:p>
          <a:p>
            <a:r>
              <a:rPr lang="en-US" b="1" dirty="0" smtClean="0"/>
              <a:t>Entertainment </a:t>
            </a:r>
            <a:r>
              <a:rPr lang="en-US" b="1" dirty="0"/>
              <a:t>and Multimedia Applications</a:t>
            </a:r>
          </a:p>
          <a:p>
            <a:pPr lvl="1"/>
            <a:r>
              <a:rPr lang="en-US" dirty="0"/>
              <a:t>Deliver interactive media content like games, video streaming.</a:t>
            </a:r>
          </a:p>
          <a:p>
            <a:pPr lvl="1"/>
            <a:r>
              <a:rPr lang="en-US" dirty="0"/>
              <a:t>Example: Netflix, online gaming sites.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1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337</TotalTime>
  <Words>993</Words>
  <Application>Microsoft Office PowerPoint</Application>
  <PresentationFormat>On-screen Show (4:3)</PresentationFormat>
  <Paragraphs>121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Century Gothic</vt:lpstr>
      <vt:lpstr>Times New Roman</vt:lpstr>
      <vt:lpstr>Wingdings 3</vt:lpstr>
      <vt:lpstr>Office Theme</vt:lpstr>
      <vt:lpstr>Ion</vt:lpstr>
      <vt:lpstr>Web Engineering</vt:lpstr>
      <vt:lpstr>What is Web Engineering?</vt:lpstr>
      <vt:lpstr>Need for Web Engineering</vt:lpstr>
      <vt:lpstr>Need for Web Engineering</vt:lpstr>
      <vt:lpstr>Need for Web Engineering</vt:lpstr>
      <vt:lpstr>Need for Web Engineering</vt:lpstr>
      <vt:lpstr>PowerPoint Presentation</vt:lpstr>
      <vt:lpstr>Challenges in Web Application Development</vt:lpstr>
      <vt:lpstr>Challenges in Web Application Development</vt:lpstr>
      <vt:lpstr>Benefits of Web Engineering</vt:lpstr>
      <vt:lpstr>Benefits of Web Engineering</vt:lpstr>
      <vt:lpstr>Classification of Web Applications </vt:lpstr>
      <vt:lpstr>Classification of Web Applications </vt:lpstr>
      <vt:lpstr>Classification of Web Applications </vt:lpstr>
      <vt:lpstr>Classification of Web Applications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ENGINEERING</dc:title>
  <dc:creator>Faruk Hossen</dc:creator>
  <cp:lastModifiedBy>hp</cp:lastModifiedBy>
  <cp:revision>20</cp:revision>
  <dcterms:created xsi:type="dcterms:W3CDTF">2006-08-16T00:00:00Z</dcterms:created>
  <dcterms:modified xsi:type="dcterms:W3CDTF">2025-07-30T16:26:35Z</dcterms:modified>
</cp:coreProperties>
</file>