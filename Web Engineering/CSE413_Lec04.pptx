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5" r:id="rId7"/>
    <p:sldId id="266" r:id="rId8"/>
    <p:sldId id="260" r:id="rId9"/>
    <p:sldId id="267" r:id="rId10"/>
    <p:sldId id="268" r:id="rId11"/>
    <p:sldId id="269" r:id="rId12"/>
    <p:sldId id="270" r:id="rId13"/>
    <p:sldId id="261" r:id="rId14"/>
    <p:sldId id="271" r:id="rId15"/>
    <p:sldId id="262" r:id="rId16"/>
    <p:sldId id="272" r:id="rId17"/>
    <p:sldId id="273" r:id="rId18"/>
    <p:sldId id="26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Web Engineering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Web Development Methodology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99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Waterfall</a:t>
            </a:r>
            <a:endParaRPr lang="en-US" dirty="0"/>
          </a:p>
          <a:p>
            <a:r>
              <a:rPr lang="en-US" b="1" dirty="0"/>
              <a:t>Agile</a:t>
            </a:r>
            <a:endParaRPr lang="en-US" dirty="0"/>
          </a:p>
          <a:p>
            <a:r>
              <a:rPr lang="en-US" b="1" dirty="0"/>
              <a:t>Scrum</a:t>
            </a:r>
            <a:endParaRPr lang="en-US" dirty="0"/>
          </a:p>
          <a:p>
            <a:r>
              <a:rPr lang="en-US" b="1" dirty="0" err="1"/>
              <a:t>Kanban</a:t>
            </a:r>
            <a:endParaRPr lang="en-US" dirty="0"/>
          </a:p>
          <a:p>
            <a:r>
              <a:rPr lang="en-US" b="1" dirty="0"/>
              <a:t>DevOps</a:t>
            </a:r>
            <a:endParaRPr lang="en-US" dirty="0"/>
          </a:p>
          <a:p>
            <a:r>
              <a:rPr lang="en-US" b="1" dirty="0"/>
              <a:t>Rapid Application Development (RAD</a:t>
            </a:r>
            <a:r>
              <a:rPr lang="en-US" b="1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877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Waterfall</a:t>
            </a:r>
            <a:endParaRPr lang="en-US" dirty="0"/>
          </a:p>
        </p:txBody>
      </p:sp>
      <p:sp>
        <p:nvSpPr>
          <p:cNvPr id="4" name="AutoShape 2" descr="Waterfall Methodology for Project Management | Ejab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Waterfall Methodology for Project Management | Ejabl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2" descr="Waterfall Methodology for Project Management | Ejabl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4" descr="Waterfall Methodology for Project Management | Ejable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6" descr="Waterfall Methodology for Project Management | Ejable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2" name="Picture 8" descr="The Traditional Waterfall Approa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76400"/>
            <a:ext cx="5667375" cy="4357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7610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Waterfall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297" y="1676400"/>
            <a:ext cx="8229600" cy="4525963"/>
          </a:xfrm>
        </p:spPr>
        <p:txBody>
          <a:bodyPr/>
          <a:lstStyle/>
          <a:p>
            <a:r>
              <a:rPr lang="en-US" dirty="0"/>
              <a:t>Linear and sequential approach</a:t>
            </a:r>
          </a:p>
          <a:p>
            <a:r>
              <a:rPr lang="en-US" dirty="0"/>
              <a:t>Stages: Requirements → Design → Development → Testing → Deployment</a:t>
            </a:r>
          </a:p>
          <a:p>
            <a:r>
              <a:rPr lang="en-US" dirty="0"/>
              <a:t>✅ Best for simple, well-defined projects</a:t>
            </a:r>
          </a:p>
          <a:p>
            <a:r>
              <a:rPr lang="en-US" dirty="0"/>
              <a:t>❌ Rigid, not suitable for changes </a:t>
            </a:r>
            <a:r>
              <a:rPr lang="en-US" dirty="0" smtClean="0"/>
              <a:t>mid-project</a:t>
            </a:r>
            <a:endParaRPr lang="en-US" dirty="0"/>
          </a:p>
        </p:txBody>
      </p:sp>
      <p:sp>
        <p:nvSpPr>
          <p:cNvPr id="4" name="AutoShape 2" descr="Waterfall Methodology for Project Management | Ejab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Waterfall Methodology for Project Management | Ejabl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46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Methodology</a:t>
            </a:r>
          </a:p>
        </p:txBody>
      </p:sp>
      <p:pic>
        <p:nvPicPr>
          <p:cNvPr id="2050" name="Picture 2" descr="Comparison between Agile model and other models in Software Engineering -  GeeksforGeek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87" t="5917" r="17087" b="11306"/>
          <a:stretch/>
        </p:blipFill>
        <p:spPr bwMode="auto">
          <a:xfrm>
            <a:off x="1066800" y="1676400"/>
            <a:ext cx="6650966" cy="3942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0512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Iterative and incremental</a:t>
            </a:r>
          </a:p>
          <a:p>
            <a:r>
              <a:rPr lang="en-US" dirty="0"/>
              <a:t>Frequent delivery of working software</a:t>
            </a:r>
          </a:p>
          <a:p>
            <a:r>
              <a:rPr lang="en-US" dirty="0"/>
              <a:t>It emphasizes collaboration, frequent feedback, and responding to change to deliver value quickly and efficiently. 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573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Instead of rigid, upfront planning, agile breaks down projects into smaller, manageable phases or iterations with continuous testing and improvement</a:t>
            </a:r>
          </a:p>
          <a:p>
            <a:r>
              <a:rPr lang="en-US" dirty="0"/>
              <a:t>✅ Adaptable to change</a:t>
            </a:r>
          </a:p>
          <a:p>
            <a:r>
              <a:rPr lang="en-US" dirty="0"/>
              <a:t>❌ Requires strong communication &amp; experienced teams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910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Subset of Agile</a:t>
            </a:r>
          </a:p>
          <a:p>
            <a:r>
              <a:rPr lang="en-US" dirty="0"/>
              <a:t>Work divided into </a:t>
            </a:r>
            <a:r>
              <a:rPr lang="en-US" b="1" dirty="0"/>
              <a:t>sprints</a:t>
            </a:r>
            <a:r>
              <a:rPr lang="en-US" dirty="0"/>
              <a:t> (1-4 weeks)</a:t>
            </a:r>
          </a:p>
          <a:p>
            <a:r>
              <a:rPr lang="en-US" dirty="0"/>
              <a:t>Roles: Product Owner, Scrum Master, Development </a:t>
            </a:r>
            <a:r>
              <a:rPr lang="en-US" dirty="0" smtClean="0"/>
              <a:t>Team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483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</a:t>
            </a:r>
          </a:p>
        </p:txBody>
      </p:sp>
      <p:sp>
        <p:nvSpPr>
          <p:cNvPr id="5" name="AutoShape 2" descr="Agile Scrum Methodology: Benefits,Scrum Activities (UPDATED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Agile Scrum Methodology: Benefits,Scrum Activities (UPDATED)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6" descr="Agile scrum methodology-2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8" descr="Agile scrum methodology-2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Agile scrum methodology-2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12" descr="Agile Scrum Methodology: Benefits,Scrum Activities (UPDATED)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86" name="Picture 14" descr="C:\Users\FARUKH~1\AppData\Local\Temp\{7303B01B-13AC-495B-8A58-52E350515F63}.t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447800"/>
            <a:ext cx="6036693" cy="4953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5252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ctr"/>
            <a:r>
              <a:rPr lang="en-US" dirty="0"/>
              <a:t>Product Owner</a:t>
            </a:r>
            <a:r>
              <a:rPr lang="en-US" b="1" dirty="0"/>
              <a:t>:</a:t>
            </a:r>
            <a:r>
              <a:rPr lang="en-US" dirty="0"/>
              <a:t> Responsible for the product vision, managing the product backlog, and maximizing the value delivered by the team. </a:t>
            </a:r>
          </a:p>
          <a:p>
            <a:pPr fontAlgn="ctr"/>
            <a:r>
              <a:rPr lang="en-US" dirty="0"/>
              <a:t>Scrum Master: Facilitates the Scrum process, removes impediments, and helps the team adhere to Scrum principles. </a:t>
            </a:r>
          </a:p>
          <a:p>
            <a:r>
              <a:rPr lang="en-US" dirty="0"/>
              <a:t>Development Team: The cross-functional group responsible for delivering the product increment.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805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Daily </a:t>
            </a:r>
            <a:r>
              <a:rPr lang="en-US" dirty="0"/>
              <a:t>stand-up meetings for </a:t>
            </a:r>
            <a:r>
              <a:rPr lang="en-US" dirty="0" smtClean="0"/>
              <a:t>updates</a:t>
            </a:r>
          </a:p>
          <a:p>
            <a:pPr fontAlgn="ctr"/>
            <a:r>
              <a:rPr lang="en-US" b="1" i="1" dirty="0" smtClean="0"/>
              <a:t>Sprint </a:t>
            </a:r>
            <a:r>
              <a:rPr lang="en-US" b="1" i="1" dirty="0"/>
              <a:t>Planning:</a:t>
            </a:r>
            <a:r>
              <a:rPr lang="en-US" dirty="0"/>
              <a:t> The team plans the work for the upcoming sprint. </a:t>
            </a:r>
          </a:p>
          <a:p>
            <a:pPr fontAlgn="ctr"/>
            <a:r>
              <a:rPr lang="en-US" b="1" i="1" dirty="0"/>
              <a:t>Daily Scrum:</a:t>
            </a:r>
            <a:r>
              <a:rPr lang="en-US" b="1" dirty="0"/>
              <a:t> </a:t>
            </a:r>
            <a:r>
              <a:rPr lang="en-US" dirty="0"/>
              <a:t>A short daily meeting where team members synchronize and identify any impediments. </a:t>
            </a:r>
          </a:p>
          <a:p>
            <a:pPr fontAlgn="ctr"/>
            <a:r>
              <a:rPr lang="en-US" b="1" i="1" dirty="0"/>
              <a:t>Sprint Review:</a:t>
            </a:r>
            <a:r>
              <a:rPr lang="en-US" dirty="0"/>
              <a:t> The team demonstrates the work completed during the sprint to stakeholders. </a:t>
            </a:r>
          </a:p>
          <a:p>
            <a:r>
              <a:rPr lang="en-US" b="1" i="1" dirty="0"/>
              <a:t>Sprint Retrospective: </a:t>
            </a:r>
            <a:r>
              <a:rPr lang="en-US" dirty="0"/>
              <a:t>The team reflects on the sprint and identifies areas for improvement.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924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ctr"/>
            <a:r>
              <a:rPr lang="en-US" b="1" dirty="0"/>
              <a:t>Product Backlog:</a:t>
            </a:r>
            <a:r>
              <a:rPr lang="en-US" dirty="0"/>
              <a:t> A prioritized list of features and requirements for the product. </a:t>
            </a:r>
          </a:p>
          <a:p>
            <a:pPr fontAlgn="ctr"/>
            <a:r>
              <a:rPr lang="en-US" b="1" dirty="0"/>
              <a:t>Sprint Backlog:</a:t>
            </a:r>
            <a:r>
              <a:rPr lang="en-US" dirty="0"/>
              <a:t> The subset of the product backlog selected for completion during a sprint. </a:t>
            </a:r>
          </a:p>
          <a:p>
            <a:r>
              <a:rPr lang="en-US" b="1" dirty="0"/>
              <a:t>Increment:</a:t>
            </a:r>
            <a:r>
              <a:rPr lang="en-US" dirty="0"/>
              <a:t> The working software delivered at the end of each sprint. </a:t>
            </a:r>
          </a:p>
          <a:p>
            <a:r>
              <a:rPr lang="en-US" dirty="0" smtClean="0"/>
              <a:t>✅ </a:t>
            </a:r>
            <a:r>
              <a:rPr lang="en-US" dirty="0"/>
              <a:t>Efficient for fast-paced projects</a:t>
            </a:r>
          </a:p>
          <a:p>
            <a:r>
              <a:rPr lang="en-US" dirty="0"/>
              <a:t>❌ Needs discipline and self-organizing teams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531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Kanban</a:t>
            </a:r>
            <a:endParaRPr lang="en-US" dirty="0"/>
          </a:p>
        </p:txBody>
      </p:sp>
      <p:pic>
        <p:nvPicPr>
          <p:cNvPr id="4098" name="Picture 2" descr="Kanban - Agile Methodology - GeeksforGee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47800"/>
            <a:ext cx="7010400" cy="4556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043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Kanban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 task management system</a:t>
            </a:r>
          </a:p>
          <a:p>
            <a:r>
              <a:rPr lang="en-US" dirty="0"/>
              <a:t>Uses a </a:t>
            </a:r>
            <a:r>
              <a:rPr lang="en-US" b="1" dirty="0" err="1"/>
              <a:t>Kanban</a:t>
            </a:r>
            <a:r>
              <a:rPr lang="en-US" b="1" dirty="0"/>
              <a:t> board</a:t>
            </a:r>
            <a:r>
              <a:rPr lang="en-US" dirty="0"/>
              <a:t> (To Do → In Progress → Done)</a:t>
            </a:r>
          </a:p>
          <a:p>
            <a:r>
              <a:rPr lang="en-US" dirty="0"/>
              <a:t>Focus on continuous delivery and limiting WIP (Work in Progress)</a:t>
            </a:r>
          </a:p>
          <a:p>
            <a:r>
              <a:rPr lang="en-US" dirty="0"/>
              <a:t>✅ Great for support &amp; maintenance teams</a:t>
            </a:r>
          </a:p>
          <a:p>
            <a:r>
              <a:rPr lang="en-US" dirty="0"/>
              <a:t>❌ Can be inefficient without clear prioritization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334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Combines development and operations</a:t>
            </a:r>
          </a:p>
          <a:p>
            <a:r>
              <a:rPr lang="en-US" dirty="0"/>
              <a:t>DevOps promotes the use of </a:t>
            </a:r>
            <a:r>
              <a:rPr lang="en-US" dirty="0" smtClean="0"/>
              <a:t>Continuous </a:t>
            </a:r>
            <a:r>
              <a:rPr lang="en-US" dirty="0"/>
              <a:t>Integration and Continuous Delivery</a:t>
            </a:r>
            <a:r>
              <a:rPr lang="en-US" dirty="0" smtClean="0"/>
              <a:t>(CI/CD</a:t>
            </a:r>
            <a:r>
              <a:rPr lang="en-US" dirty="0"/>
              <a:t>)</a:t>
            </a:r>
          </a:p>
          <a:p>
            <a:r>
              <a:rPr lang="en-US" dirty="0"/>
              <a:t>Promotes collaboration, faster releases, and monitoring</a:t>
            </a:r>
          </a:p>
          <a:p>
            <a:r>
              <a:rPr lang="en-US" dirty="0"/>
              <a:t>✅ Ideal for modern, scalable apps</a:t>
            </a:r>
          </a:p>
          <a:p>
            <a:r>
              <a:rPr lang="en-US" dirty="0"/>
              <a:t>❌ Requires cultural shift and infrastructure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39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</a:t>
            </a:r>
          </a:p>
        </p:txBody>
      </p:sp>
      <p:pic>
        <p:nvPicPr>
          <p:cNvPr id="5122" name="Picture 2" descr="A model-based DevOps approach |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7562850" cy="401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6185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Benefits of DevOps:</a:t>
            </a:r>
          </a:p>
          <a:p>
            <a:r>
              <a:rPr lang="en-US" dirty="0"/>
              <a:t>Faster Time to Market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/>
              <a:t>Improved Software Quality:</a:t>
            </a:r>
          </a:p>
          <a:p>
            <a:r>
              <a:rPr lang="en-US" dirty="0" smtClean="0"/>
              <a:t>Increased </a:t>
            </a:r>
            <a:r>
              <a:rPr lang="en-US" dirty="0"/>
              <a:t>Efficiency:</a:t>
            </a:r>
          </a:p>
          <a:p>
            <a:r>
              <a:rPr lang="en-US" dirty="0" smtClean="0"/>
              <a:t>Reduced </a:t>
            </a:r>
            <a:r>
              <a:rPr lang="en-US" dirty="0"/>
              <a:t>Costs:</a:t>
            </a:r>
          </a:p>
          <a:p>
            <a:r>
              <a:rPr lang="en-US" dirty="0" smtClean="0"/>
              <a:t>Enhanced </a:t>
            </a:r>
            <a:r>
              <a:rPr lang="en-US" dirty="0"/>
              <a:t>Customer </a:t>
            </a:r>
            <a:r>
              <a:rPr lang="en-US" dirty="0" smtClean="0"/>
              <a:t>Satisfaction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210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Rapid Application Development (RAD)</a:t>
            </a:r>
          </a:p>
        </p:txBody>
      </p:sp>
      <p:pic>
        <p:nvPicPr>
          <p:cNvPr id="6146" name="Picture 2" descr="Rapid Application Development (RAD)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10"/>
          <a:stretch/>
        </p:blipFill>
        <p:spPr bwMode="auto">
          <a:xfrm>
            <a:off x="381000" y="2057400"/>
            <a:ext cx="8281143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0721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Rapid Application Development (RAD)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Emphasizes rapid prototyping and user feedback</a:t>
            </a:r>
          </a:p>
          <a:p>
            <a:r>
              <a:rPr lang="en-US" dirty="0"/>
              <a:t>Involves iterative development with reusable components</a:t>
            </a:r>
          </a:p>
          <a:p>
            <a:r>
              <a:rPr lang="en-US" dirty="0"/>
              <a:t>✅ Good for time-constrained projects</a:t>
            </a:r>
          </a:p>
          <a:p>
            <a:r>
              <a:rPr lang="en-US" dirty="0"/>
              <a:t>❌ May sacrifice scalability and structure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45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Rapid Application Development (RAD)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How RAD Works:</a:t>
            </a:r>
          </a:p>
          <a:p>
            <a:r>
              <a:rPr lang="en-US" b="1" dirty="0"/>
              <a:t>1. Requirements Planning:</a:t>
            </a:r>
            <a:endParaRPr lang="en-US" dirty="0"/>
          </a:p>
          <a:p>
            <a:pPr lvl="1" fontAlgn="ctr"/>
            <a:r>
              <a:rPr lang="en-US" dirty="0"/>
              <a:t>Instead of a lengthy, detailed plan, RAD focuses on quickly gathering core requirements and understanding the user's needs. </a:t>
            </a:r>
          </a:p>
          <a:p>
            <a:r>
              <a:rPr lang="en-US" b="1" dirty="0"/>
              <a:t>2. Prototyping:</a:t>
            </a:r>
            <a:endParaRPr lang="en-US" dirty="0"/>
          </a:p>
          <a:p>
            <a:pPr lvl="1" fontAlgn="ctr"/>
            <a:r>
              <a:rPr lang="en-US" dirty="0"/>
              <a:t>Developers quickly build a basic prototype that demonstrates the core functionality of the system. </a:t>
            </a:r>
          </a:p>
          <a:p>
            <a:r>
              <a:rPr lang="en-US" b="1" dirty="0"/>
              <a:t>3. User Feedback:</a:t>
            </a:r>
            <a:endParaRPr lang="en-US" dirty="0"/>
          </a:p>
          <a:p>
            <a:pPr lvl="1" fontAlgn="ctr"/>
            <a:r>
              <a:rPr lang="en-US" dirty="0"/>
              <a:t>The prototype is presented to users for feedback, which is then used to refine the prototype. 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625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Rapid Application Development (RAD)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How RAD Works:</a:t>
            </a:r>
          </a:p>
          <a:p>
            <a:r>
              <a:rPr lang="en-US" b="1" dirty="0" smtClean="0"/>
              <a:t>4. Iteration and Refinement:</a:t>
            </a:r>
            <a:endParaRPr lang="en-US" dirty="0" smtClean="0"/>
          </a:p>
          <a:p>
            <a:pPr lvl="1" fontAlgn="ctr"/>
            <a:r>
              <a:rPr lang="en-US" dirty="0" smtClean="0"/>
              <a:t>The cycle of prototyping, feedback, and refinement is repeated until the final product meets user expectations. </a:t>
            </a:r>
          </a:p>
          <a:p>
            <a:r>
              <a:rPr lang="en-US" b="1" dirty="0" smtClean="0"/>
              <a:t>5. Testing and Integration:</a:t>
            </a:r>
            <a:endParaRPr lang="en-US" dirty="0" smtClean="0"/>
          </a:p>
          <a:p>
            <a:pPr lvl="1" fontAlgn="ctr"/>
            <a:r>
              <a:rPr lang="en-US" dirty="0" smtClean="0"/>
              <a:t>Once the prototype is refined, it's tested and integrated with other components to create the final application. </a:t>
            </a:r>
          </a:p>
          <a:p>
            <a:r>
              <a:rPr lang="en-US" b="1" dirty="0" smtClean="0"/>
              <a:t>6. Deployment:</a:t>
            </a:r>
            <a:endParaRPr lang="en-US" dirty="0" smtClean="0"/>
          </a:p>
          <a:p>
            <a:pPr lvl="1"/>
            <a:r>
              <a:rPr lang="en-US" dirty="0" smtClean="0"/>
              <a:t>The completed application is deployed to the users.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80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3763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 smtClean="0"/>
              <a:t>THANKS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82948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295</Words>
  <Application>Microsoft Office PowerPoint</Application>
  <PresentationFormat>On-screen Show (4:3)</PresentationFormat>
  <Paragraphs>89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Web Engineering</vt:lpstr>
      <vt:lpstr>Popular Methodologies</vt:lpstr>
      <vt:lpstr>Waterfall</vt:lpstr>
      <vt:lpstr>Waterfall</vt:lpstr>
      <vt:lpstr>Agile Methodology</vt:lpstr>
      <vt:lpstr>Agile Methodology</vt:lpstr>
      <vt:lpstr>Agile Methodology</vt:lpstr>
      <vt:lpstr>Scrum</vt:lpstr>
      <vt:lpstr>Scrum</vt:lpstr>
      <vt:lpstr>Scrum</vt:lpstr>
      <vt:lpstr>Scrum</vt:lpstr>
      <vt:lpstr>Scrum</vt:lpstr>
      <vt:lpstr>Kanban</vt:lpstr>
      <vt:lpstr>Kanban</vt:lpstr>
      <vt:lpstr>DevOps</vt:lpstr>
      <vt:lpstr>DevOps</vt:lpstr>
      <vt:lpstr>DevOps</vt:lpstr>
      <vt:lpstr>Rapid Application Development (RAD)</vt:lpstr>
      <vt:lpstr>Rapid Application Development (RAD)</vt:lpstr>
      <vt:lpstr>Rapid Application Development (RAD)</vt:lpstr>
      <vt:lpstr>Rapid Application Development (RAD)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Engineering</dc:title>
  <dc:creator>Faruk Hossen</dc:creator>
  <cp:lastModifiedBy>Faruk Hossen</cp:lastModifiedBy>
  <cp:revision>11</cp:revision>
  <dcterms:created xsi:type="dcterms:W3CDTF">2006-08-16T00:00:00Z</dcterms:created>
  <dcterms:modified xsi:type="dcterms:W3CDTF">2025-08-07T06:02:27Z</dcterms:modified>
</cp:coreProperties>
</file>