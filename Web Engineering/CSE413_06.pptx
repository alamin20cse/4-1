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64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Web Maintenance Methodologies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Web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dirty="0" smtClean="0"/>
              <a:t>Ongoing </a:t>
            </a:r>
            <a:r>
              <a:rPr dirty="0"/>
              <a:t>process of updating, monitoring, and optimizing websites</a:t>
            </a:r>
          </a:p>
          <a:p>
            <a:r>
              <a:rPr dirty="0"/>
              <a:t>Enhances security, user experience, SEO, and business continuity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Types of Web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smtClean="0"/>
              <a:t>Corrective </a:t>
            </a:r>
            <a:r>
              <a:rPr dirty="0"/>
              <a:t>Maintenance – Fixing bugs, errors, broken links</a:t>
            </a:r>
          </a:p>
          <a:p>
            <a:r>
              <a:rPr dirty="0"/>
              <a:t>Adaptive Maintenance – Updating systems for new OS, browsers, or tech</a:t>
            </a:r>
          </a:p>
          <a:p>
            <a:r>
              <a:rPr dirty="0"/>
              <a:t>Perfective Maintenance – Enhancing functionality, usability, and features</a:t>
            </a:r>
          </a:p>
          <a:p>
            <a:r>
              <a:rPr dirty="0"/>
              <a:t>Preventive Maintenance – Regular checks to avoid future issues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Corrective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Identifying and fixing coding errors</a:t>
            </a:r>
          </a:p>
          <a:p>
            <a:r>
              <a:t>Repairing broken links &amp; images</a:t>
            </a:r>
          </a:p>
          <a:p>
            <a:r>
              <a:t>Addressing downtime or server issues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Adaptive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Updating CMS, plugins, or frameworks</a:t>
            </a:r>
          </a:p>
          <a:p>
            <a:r>
              <a:t>Ensuring compatibility with new devices &amp; browsers</a:t>
            </a:r>
          </a:p>
          <a:p>
            <a:r>
              <a:t>Cloud/server migration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Perfective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Improving navigation and UI/UX</a:t>
            </a:r>
          </a:p>
          <a:p>
            <a:r>
              <a:t>Optimizing loading speed</a:t>
            </a:r>
          </a:p>
          <a:p>
            <a:r>
              <a:t>Adding new features to meet user needs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Preventive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Security patches &amp; updates</a:t>
            </a:r>
          </a:p>
          <a:p>
            <a:r>
              <a:t>Regular backups and recovery testing</a:t>
            </a:r>
          </a:p>
          <a:p>
            <a:r>
              <a:t>Monitoring site analytics for anomalies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Methodologies for Web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Agile </a:t>
            </a:r>
            <a:r>
              <a:rPr dirty="0"/>
              <a:t>Maintenance – Iterative, flexible updates</a:t>
            </a:r>
          </a:p>
          <a:p>
            <a:r>
              <a:rPr dirty="0"/>
              <a:t>Proactive Maintenance – Predict issues using monitoring tools</a:t>
            </a:r>
          </a:p>
          <a:p>
            <a:r>
              <a:rPr dirty="0"/>
              <a:t>Reactive Maintenance – Address issues only when they arise</a:t>
            </a:r>
          </a:p>
          <a:p>
            <a:r>
              <a:rPr dirty="0"/>
              <a:t>Outsourced Maintenance – Dedicated third-party support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Agile Maintenance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Agile Maintenance applies </a:t>
            </a:r>
            <a:r>
              <a:rPr lang="en-US" b="1" dirty="0"/>
              <a:t>Agile principles</a:t>
            </a:r>
            <a:r>
              <a:rPr lang="en-US" dirty="0"/>
              <a:t> (iterative, incremental, and collaborative processes) to web maintenance.</a:t>
            </a:r>
          </a:p>
          <a:p>
            <a:r>
              <a:rPr lang="en-US" dirty="0"/>
              <a:t>Instead of waiting for large updates, changes are rolled out in </a:t>
            </a:r>
            <a:r>
              <a:rPr lang="en-US" b="1" dirty="0"/>
              <a:t>small, frequent </a:t>
            </a:r>
            <a:r>
              <a:rPr lang="en-US" b="1" dirty="0" smtClean="0"/>
              <a:t>cycles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328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Agile Maintenance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b="1" dirty="0" smtClean="0"/>
          </a:p>
          <a:p>
            <a:r>
              <a:rPr lang="en-US" b="1" dirty="0" smtClean="0"/>
              <a:t>Features</a:t>
            </a:r>
          </a:p>
          <a:p>
            <a:r>
              <a:rPr lang="en-US" b="1" dirty="0" smtClean="0"/>
              <a:t>Iterative </a:t>
            </a:r>
            <a:r>
              <a:rPr lang="en-US" b="1" dirty="0"/>
              <a:t>Updates</a:t>
            </a:r>
            <a:r>
              <a:rPr lang="en-US" dirty="0"/>
              <a:t> – Maintenance tasks are divided into small sprints (1–2 weeks).</a:t>
            </a:r>
          </a:p>
          <a:p>
            <a:r>
              <a:rPr lang="en-US" b="1" dirty="0"/>
              <a:t>Continuous Feedback</a:t>
            </a:r>
            <a:r>
              <a:rPr lang="en-US" dirty="0"/>
              <a:t> – User and stakeholder feedback is incorporated regularly.</a:t>
            </a:r>
          </a:p>
          <a:p>
            <a:r>
              <a:rPr lang="en-US" b="1" dirty="0"/>
              <a:t>Flexibility</a:t>
            </a:r>
            <a:r>
              <a:rPr lang="en-US" dirty="0"/>
              <a:t> – Priorities can shift quickly based on new requirements or issues.</a:t>
            </a:r>
          </a:p>
          <a:p>
            <a:r>
              <a:rPr lang="en-US" b="1" dirty="0"/>
              <a:t>Cross-functional Teams</a:t>
            </a:r>
            <a:r>
              <a:rPr lang="en-US" dirty="0"/>
              <a:t> – Developers, designers, testers, and support work together.</a:t>
            </a:r>
          </a:p>
          <a:p>
            <a:r>
              <a:rPr lang="en-US" b="1" dirty="0"/>
              <a:t>Continuous Integration &amp; Deployment (CI/CD)</a:t>
            </a:r>
            <a:r>
              <a:rPr lang="en-US" dirty="0"/>
              <a:t> – </a:t>
            </a:r>
            <a:r>
              <a:rPr lang="en-US" dirty="0"/>
              <a:t>frequent, incremental </a:t>
            </a:r>
            <a:r>
              <a:rPr lang="en-US" dirty="0" smtClean="0"/>
              <a:t>updates are deployed.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81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Agile Maintenance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Advantages</a:t>
            </a:r>
          </a:p>
          <a:p>
            <a:r>
              <a:rPr lang="en-US" dirty="0"/>
              <a:t>Faster bug fixing and feature enhancement.</a:t>
            </a:r>
          </a:p>
          <a:p>
            <a:r>
              <a:rPr lang="en-US" dirty="0"/>
              <a:t>Improved customer satisfaction (quick response to feedback).</a:t>
            </a:r>
          </a:p>
          <a:p>
            <a:r>
              <a:rPr lang="en-US" dirty="0"/>
              <a:t>Reduced risk since changes are small and tested frequently.</a:t>
            </a:r>
          </a:p>
          <a:p>
            <a:r>
              <a:rPr lang="en-US" dirty="0"/>
              <a:t>Easy adaptation to new technologies or business needs.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407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Proactive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Proactive Maintenance is the practice of </a:t>
            </a:r>
            <a:r>
              <a:rPr lang="en-US" b="1" dirty="0"/>
              <a:t>anticipating and preventing potential issues</a:t>
            </a:r>
            <a:r>
              <a:rPr lang="en-US" dirty="0"/>
              <a:t> before they occur.</a:t>
            </a:r>
          </a:p>
          <a:p>
            <a:r>
              <a:rPr lang="en-US" dirty="0"/>
              <a:t>It uses monitoring, analytics, and predictive tools to detect vulnerabilities and optimize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381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Proactive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Key </a:t>
            </a:r>
            <a:r>
              <a:rPr lang="en-US" b="1" dirty="0"/>
              <a:t>Features</a:t>
            </a:r>
          </a:p>
          <a:p>
            <a:r>
              <a:rPr lang="en-US" b="1" dirty="0"/>
              <a:t>Regular Monitoring</a:t>
            </a:r>
            <a:r>
              <a:rPr lang="en-US" dirty="0"/>
              <a:t> – Continuous tracking of website uptime, performance, and traffic patterns.</a:t>
            </a:r>
          </a:p>
          <a:p>
            <a:r>
              <a:rPr lang="en-US" b="1" dirty="0"/>
              <a:t>Predictive Analysis</a:t>
            </a:r>
            <a:r>
              <a:rPr lang="en-US" dirty="0"/>
              <a:t> – Using AI/ML or analytics tools to forecast failures or slowdowns.</a:t>
            </a:r>
          </a:p>
          <a:p>
            <a:r>
              <a:rPr lang="en-US" b="1" dirty="0"/>
              <a:t>Scheduled Updates</a:t>
            </a:r>
            <a:r>
              <a:rPr lang="en-US" dirty="0"/>
              <a:t> – Timely upgrades of CMS, plugins, and frameworks before they become outdated.</a:t>
            </a:r>
          </a:p>
          <a:p>
            <a:r>
              <a:rPr lang="en-US" b="1" dirty="0"/>
              <a:t>Security Scans</a:t>
            </a:r>
            <a:r>
              <a:rPr lang="en-US" dirty="0"/>
              <a:t> – Routine malware scans, firewall checks, and SSL validations.</a:t>
            </a:r>
          </a:p>
          <a:p>
            <a:r>
              <a:rPr lang="en-US" b="1" dirty="0"/>
              <a:t>Performance Optimization</a:t>
            </a:r>
            <a:r>
              <a:rPr lang="en-US" dirty="0"/>
              <a:t> – Regular speed tests, load balancing, and caching improvements.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780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Proactive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Advantages</a:t>
            </a:r>
          </a:p>
          <a:p>
            <a:r>
              <a:rPr lang="en-US" dirty="0"/>
              <a:t>Minimizes downtime and unexpected failures.</a:t>
            </a:r>
          </a:p>
          <a:p>
            <a:r>
              <a:rPr lang="en-US" dirty="0"/>
              <a:t>Improves user trust by ensuring stable performance.</a:t>
            </a:r>
          </a:p>
          <a:p>
            <a:r>
              <a:rPr lang="en-US" dirty="0"/>
              <a:t>Reduces long-term maintenance costs (fixing early is cheaper).</a:t>
            </a:r>
          </a:p>
          <a:p>
            <a:r>
              <a:rPr lang="en-US" dirty="0"/>
              <a:t>Enhances security by patching vulnerabilities before attacks.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214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Reactive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Reactive Maintenance is the process of </a:t>
            </a:r>
            <a:r>
              <a:rPr lang="en-US" b="1" dirty="0"/>
              <a:t>fixing issues only after they occur</a:t>
            </a:r>
            <a:r>
              <a:rPr lang="en-US" dirty="0"/>
              <a:t>.</a:t>
            </a:r>
          </a:p>
          <a:p>
            <a:r>
              <a:rPr lang="en-US" dirty="0"/>
              <a:t>It focuses on restoring the website when unexpected problems (errors, crashes, security breaches) happen.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85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Reactive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Key Features</a:t>
            </a:r>
          </a:p>
          <a:p>
            <a:r>
              <a:rPr lang="en-US" b="1" dirty="0"/>
              <a:t>On-Demand Fixes</a:t>
            </a:r>
            <a:r>
              <a:rPr lang="en-US" dirty="0"/>
              <a:t> – Issues are addressed as soon as they are reported or detected.</a:t>
            </a:r>
          </a:p>
          <a:p>
            <a:r>
              <a:rPr lang="en-US" b="1" dirty="0"/>
              <a:t>Error Resolution</a:t>
            </a:r>
            <a:r>
              <a:rPr lang="en-US" dirty="0"/>
              <a:t> – Fixing broken links, bugs, server crashes, and downtime.</a:t>
            </a:r>
          </a:p>
          <a:p>
            <a:r>
              <a:rPr lang="en-US" b="1" dirty="0"/>
              <a:t>Security Response</a:t>
            </a:r>
            <a:r>
              <a:rPr lang="en-US" dirty="0"/>
              <a:t> – Handling hacks, malware, or data breaches after detection.</a:t>
            </a:r>
          </a:p>
          <a:p>
            <a:r>
              <a:rPr lang="en-US" b="1" dirty="0"/>
              <a:t>Customer Support Integration</a:t>
            </a:r>
            <a:r>
              <a:rPr lang="en-US" dirty="0"/>
              <a:t> – Responding to complaints about functionality or downtime.</a:t>
            </a:r>
          </a:p>
          <a:p>
            <a:r>
              <a:rPr lang="en-US" b="1" dirty="0"/>
              <a:t>Emergency Recovery</a:t>
            </a:r>
            <a:r>
              <a:rPr lang="en-US" dirty="0"/>
              <a:t> – Quick restoration from backups in case of critical failure.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32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Reactive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Advantages</a:t>
            </a:r>
          </a:p>
          <a:p>
            <a:r>
              <a:rPr lang="en-US" dirty="0"/>
              <a:t>Lower initial cost (no continuous monitoring required).</a:t>
            </a:r>
          </a:p>
          <a:p>
            <a:r>
              <a:rPr lang="en-US" dirty="0"/>
              <a:t>Simple to implement for small websites.</a:t>
            </a:r>
          </a:p>
          <a:p>
            <a:r>
              <a:rPr lang="en-US" dirty="0"/>
              <a:t>Suitable for businesses with minimal online activity.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891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Outsourced Maintenance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Definition</a:t>
            </a:r>
            <a:endParaRPr lang="en-US" b="1" dirty="0"/>
          </a:p>
          <a:p>
            <a:r>
              <a:rPr lang="en-US" dirty="0"/>
              <a:t>Outsourced Maintenance is when a company hires an </a:t>
            </a:r>
            <a:r>
              <a:rPr lang="en-US" b="1" dirty="0"/>
              <a:t>external vendor or specialized agency</a:t>
            </a:r>
            <a:r>
              <a:rPr lang="en-US" dirty="0"/>
              <a:t> to handle website upkeep instead of maintaining it in-house.</a:t>
            </a:r>
          </a:p>
          <a:p>
            <a:r>
              <a:rPr lang="en-US" dirty="0"/>
              <a:t>It covers technical updates, security, backups, performance monitoring, and support.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598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Outsourced Maintenance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Key </a:t>
            </a:r>
            <a:r>
              <a:rPr lang="en-US" b="1" dirty="0"/>
              <a:t>Features</a:t>
            </a:r>
          </a:p>
          <a:p>
            <a:r>
              <a:rPr lang="en-US" b="1" dirty="0"/>
              <a:t>Third-Party Expertise</a:t>
            </a:r>
            <a:r>
              <a:rPr lang="en-US" dirty="0"/>
              <a:t> – Professional teams handle complex technical tasks.</a:t>
            </a:r>
          </a:p>
          <a:p>
            <a:r>
              <a:rPr lang="en-US" b="1" dirty="0"/>
              <a:t>Service-Level Agreements (SLAs)</a:t>
            </a:r>
            <a:r>
              <a:rPr lang="en-US" dirty="0"/>
              <a:t> – Clear contracts defining response times, scope, and responsibilities.</a:t>
            </a:r>
          </a:p>
          <a:p>
            <a:r>
              <a:rPr lang="en-US" b="1" dirty="0"/>
              <a:t>24/7 Monitoring &amp; Support</a:t>
            </a:r>
            <a:r>
              <a:rPr lang="en-US" dirty="0"/>
              <a:t> – Many vendors offer round-the-clock services.</a:t>
            </a:r>
          </a:p>
          <a:p>
            <a:r>
              <a:rPr lang="en-US" b="1" dirty="0"/>
              <a:t>Scalability</a:t>
            </a:r>
            <a:r>
              <a:rPr lang="en-US" dirty="0"/>
              <a:t> – Services can be expanded or reduced based on business needs.</a:t>
            </a:r>
          </a:p>
          <a:p>
            <a:r>
              <a:rPr lang="en-US" b="1" dirty="0"/>
              <a:t>Comprehensive Packages</a:t>
            </a:r>
            <a:r>
              <a:rPr lang="en-US" dirty="0"/>
              <a:t> – Often includes hosting, updates, bug fixing, and performance optimization.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17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Outsourced Maintenance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Advantages</a:t>
            </a:r>
            <a:endParaRPr lang="en-US" b="1" dirty="0"/>
          </a:p>
          <a:p>
            <a:r>
              <a:rPr lang="en-US" dirty="0"/>
              <a:t>Access to skilled professionals without hiring full-time staff.</a:t>
            </a:r>
          </a:p>
          <a:p>
            <a:r>
              <a:rPr lang="en-US" dirty="0"/>
              <a:t>Cost-effective for businesses that lack in-house expertise.</a:t>
            </a:r>
          </a:p>
          <a:p>
            <a:r>
              <a:rPr lang="en-US" dirty="0"/>
              <a:t>Continuous monitoring ensures high uptime and reliability.</a:t>
            </a:r>
          </a:p>
          <a:p>
            <a:r>
              <a:rPr lang="en-US" dirty="0"/>
              <a:t>Frees internal team to focus on core business activities.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16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for Web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CMS tools (WordPress, Drupal)</a:t>
            </a:r>
          </a:p>
          <a:p>
            <a:r>
              <a:t>Monitoring tools (Google Analytics, Pingdom)</a:t>
            </a:r>
          </a:p>
          <a:p>
            <a:r>
              <a:t>Security tools (SSL, Firewalls, Antivirus)</a:t>
            </a:r>
          </a:p>
          <a:p>
            <a:r>
              <a:t>Backup solutions (UpdraftPlus, Acronis)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786</Words>
  <Application>Microsoft Office PowerPoint</Application>
  <PresentationFormat>On-screen Show (4:3)</PresentationFormat>
  <Paragraphs>108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Web Maintenance Methodologies</vt:lpstr>
      <vt:lpstr>Introduction to Web Maintenance</vt:lpstr>
      <vt:lpstr>Types of Web Maintenance</vt:lpstr>
      <vt:lpstr>Corrective Maintenance</vt:lpstr>
      <vt:lpstr>Adaptive Maintenance</vt:lpstr>
      <vt:lpstr>Perfective Maintenance</vt:lpstr>
      <vt:lpstr>Preventive Maintenance</vt:lpstr>
      <vt:lpstr>Methodologies for Web Maintenance</vt:lpstr>
      <vt:lpstr>Agile Maintenance</vt:lpstr>
      <vt:lpstr>Agile Maintenance</vt:lpstr>
      <vt:lpstr>Agile Maintenance</vt:lpstr>
      <vt:lpstr>Proactive Maintenance</vt:lpstr>
      <vt:lpstr>Proactive Maintenance</vt:lpstr>
      <vt:lpstr>Proactive Maintenance</vt:lpstr>
      <vt:lpstr>Reactive Maintenance</vt:lpstr>
      <vt:lpstr>Reactive Maintenance</vt:lpstr>
      <vt:lpstr>Reactive Maintenance</vt:lpstr>
      <vt:lpstr>Outsourced Maintenance</vt:lpstr>
      <vt:lpstr>Outsourced Maintenance</vt:lpstr>
      <vt:lpstr>Outsourced Maintenance</vt:lpstr>
      <vt:lpstr>Tools for Web Maintenance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Maintenance Methodologies</dc:title>
  <dc:creator>Faruk Hossen</dc:creator>
  <dc:description>generated using python-pptx</dc:description>
  <cp:lastModifiedBy>Faruk Hossen</cp:lastModifiedBy>
  <cp:revision>12</cp:revision>
  <dcterms:created xsi:type="dcterms:W3CDTF">2013-01-27T09:14:16Z</dcterms:created>
  <dcterms:modified xsi:type="dcterms:W3CDTF">2025-09-04T06:00:45Z</dcterms:modified>
</cp:coreProperties>
</file>